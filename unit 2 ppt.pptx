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32" r:id="rId1"/>
  </p:sldMasterIdLst>
  <p:notesMasterIdLst>
    <p:notesMasterId r:id="rId10"/>
  </p:notesMasterIdLst>
  <p:sldIdLst>
    <p:sldId id="266" r:id="rId2"/>
    <p:sldId id="259" r:id="rId3"/>
    <p:sldId id="260" r:id="rId4"/>
    <p:sldId id="261" r:id="rId5"/>
    <p:sldId id="262" r:id="rId6"/>
    <p:sldId id="263" r:id="rId7"/>
    <p:sldId id="264" r:id="rId8"/>
    <p:sldId id="265" r:id="rId9"/>
  </p:sldIdLst>
  <p:sldSz cx="14630400" cy="8229600"/>
  <p:notesSz cx="8229600" cy="14630400"/>
  <p:embeddedFontLst>
    <p:embeddedFont>
      <p:font typeface="Century Gothic" panose="020B0502020202020204" pitchFamily="34" charset="0"/>
      <p:regular r:id="rId11"/>
      <p:bold r:id="rId12"/>
      <p:italic r:id="rId13"/>
      <p:boldItalic r:id="rId14"/>
    </p:embeddedFont>
    <p:embeddedFont>
      <p:font typeface="Consolas" panose="020B0609020204030204" pitchFamily="49" charset="0"/>
      <p:regular r:id="rId15"/>
      <p:bold r:id="rId16"/>
      <p:italic r:id="rId17"/>
      <p:boldItalic r:id="rId18"/>
    </p:embeddedFont>
    <p:embeddedFont>
      <p:font typeface="DM Sans" pitchFamily="2" charset="0"/>
      <p:regular r:id="rId19"/>
      <p:bold r:id="rId20"/>
      <p:italic r:id="rId21"/>
      <p:boldItalic r:id="rId22"/>
    </p:embeddedFont>
    <p:embeddedFont>
      <p:font typeface="Garamond" panose="02020404030301010803" pitchFamily="18" charset="0"/>
      <p:regular r:id="rId23"/>
      <p:bold r:id="rId24"/>
      <p:italic r:id="rId25"/>
    </p:embeddedFont>
    <p:embeddedFont>
      <p:font typeface="Libre Baskerville" panose="02000000000000000000" pitchFamily="2" charset="0"/>
      <p:regular r:id="rId26"/>
      <p:bold r:id="rId27"/>
      <p:italic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autoAdjust="0"/>
    <p:restoredTop sz="94610"/>
  </p:normalViewPr>
  <p:slideViewPr>
    <p:cSldViewPr snapToGrid="0" snapToObjects="1">
      <p:cViewPr varScale="1">
        <p:scale>
          <a:sx n="71" d="100"/>
          <a:sy n="71" d="100"/>
        </p:scale>
        <p:origin x="61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font" Target="fonts/font18.fntdata"/><Relationship Id="rId10" Type="http://schemas.openxmlformats.org/officeDocument/2006/relationships/notesMaster" Target="notesMasters/notesMaster1.xml"/><Relationship Id="rId19" Type="http://schemas.openxmlformats.org/officeDocument/2006/relationships/font" Target="fonts/font9.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font" Target="fonts/font1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3253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4630400" cy="82296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569444" y="1521276"/>
            <a:ext cx="11491514" cy="516954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737361" y="1693938"/>
            <a:ext cx="11155680" cy="4841724"/>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6163056" y="1521276"/>
            <a:ext cx="2304288" cy="8778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6300216" y="1521277"/>
            <a:ext cx="2029968" cy="774354"/>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874050" y="2509516"/>
            <a:ext cx="10882303" cy="3108960"/>
          </a:xfrm>
        </p:spPr>
        <p:txBody>
          <a:bodyPr tIns="45720" bIns="45720" anchor="ctr">
            <a:noAutofit/>
          </a:bodyPr>
          <a:lstStyle>
            <a:lvl1pPr algn="ctr">
              <a:lnSpc>
                <a:spcPct val="83000"/>
              </a:lnSpc>
              <a:defRPr lang="en-US" sz="8640" b="0" kern="1200" cap="all" spc="-12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874520" y="5618475"/>
            <a:ext cx="10885018" cy="548641"/>
          </a:xfrm>
        </p:spPr>
        <p:txBody>
          <a:bodyPr>
            <a:normAutofit/>
          </a:bodyPr>
          <a:lstStyle>
            <a:lvl1pPr marL="0" indent="0" algn="ctr">
              <a:spcBef>
                <a:spcPts val="0"/>
              </a:spcBef>
              <a:buNone/>
              <a:defRPr sz="1920" spc="96" baseline="0">
                <a:solidFill>
                  <a:schemeClr val="tx1"/>
                </a:solidFill>
              </a:defRPr>
            </a:lvl1pPr>
            <a:lvl2pPr marL="548640" indent="0" algn="ctr">
              <a:buNone/>
              <a:defRPr sz="1920"/>
            </a:lvl2pPr>
            <a:lvl3pPr marL="1097280" indent="0" algn="ctr">
              <a:buNone/>
              <a:defRPr sz="192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20" name="Date Placeholder 19"/>
          <p:cNvSpPr>
            <a:spLocks noGrp="1"/>
          </p:cNvSpPr>
          <p:nvPr>
            <p:ph type="dt" sz="half" idx="10"/>
          </p:nvPr>
        </p:nvSpPr>
        <p:spPr>
          <a:xfrm>
            <a:off x="6382512" y="1609506"/>
            <a:ext cx="1865376" cy="632656"/>
          </a:xfrm>
        </p:spPr>
        <p:txBody>
          <a:bodyPr/>
          <a:lstStyle>
            <a:lvl1pPr algn="ctr">
              <a:defRPr sz="1560" spc="0" baseline="0">
                <a:solidFill>
                  <a:schemeClr val="tx1"/>
                </a:solidFill>
                <a:latin typeface="+mn-lt"/>
              </a:defRPr>
            </a:lvl1pPr>
          </a:lstStyle>
          <a:p>
            <a:fld id="{4BDF68E2-58F2-4D09-BE8B-E3BD06533059}" type="datetimeFigureOut">
              <a:rPr lang="en-US" smtClean="0"/>
              <a:t>2/4/2026</a:t>
            </a:fld>
            <a:endParaRPr lang="en-US" dirty="0"/>
          </a:p>
        </p:txBody>
      </p:sp>
      <p:sp>
        <p:nvSpPr>
          <p:cNvPr id="21" name="Footer Placeholder 20"/>
          <p:cNvSpPr>
            <a:spLocks noGrp="1"/>
          </p:cNvSpPr>
          <p:nvPr>
            <p:ph type="ftr" sz="quarter" idx="11"/>
          </p:nvPr>
        </p:nvSpPr>
        <p:spPr>
          <a:xfrm>
            <a:off x="1744675" y="6253272"/>
            <a:ext cx="7086600" cy="27432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10328304" y="6254496"/>
            <a:ext cx="2534257" cy="274320"/>
          </a:xfrm>
        </p:spPr>
        <p:txBody>
          <a:bodyPr/>
          <a:lstStyle>
            <a:lvl1pPr>
              <a:defRPr>
                <a:solidFill>
                  <a:schemeClr val="tx1">
                    <a:lumMod val="75000"/>
                    <a:lumOff val="25000"/>
                  </a:schemeClr>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1895081797"/>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28FC5F6-F338-4AE4-BB23-26385BCFC423}" type="datetimeFigureOut">
              <a:rPr lang="en-US" smtClean="0"/>
              <a:t>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234196820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4630400" cy="82296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569444" y="1521276"/>
            <a:ext cx="11491514" cy="516954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737360" y="1693938"/>
            <a:ext cx="11155680" cy="4841724"/>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6163056" y="1521276"/>
            <a:ext cx="2304288" cy="8778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6300216" y="1521277"/>
            <a:ext cx="2029968" cy="774354"/>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876347" y="2513171"/>
            <a:ext cx="10885018" cy="3105302"/>
          </a:xfrm>
        </p:spPr>
        <p:txBody>
          <a:bodyPr anchor="ctr">
            <a:noAutofit/>
          </a:bodyPr>
          <a:lstStyle>
            <a:lvl1pPr algn="ctr">
              <a:lnSpc>
                <a:spcPct val="83000"/>
              </a:lnSpc>
              <a:defRPr lang="en-US" sz="8640" kern="1200" cap="all" spc="-12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876349" y="5618474"/>
            <a:ext cx="10885018" cy="548640"/>
          </a:xfrm>
        </p:spPr>
        <p:txBody>
          <a:bodyPr anchor="t">
            <a:normAutofit/>
          </a:bodyPr>
          <a:lstStyle>
            <a:lvl1pPr marL="0" indent="0" algn="ctr">
              <a:buNone/>
              <a:defRPr sz="1920">
                <a:solidFill>
                  <a:schemeClr val="tx1"/>
                </a:solidFill>
                <a:effectLst/>
              </a:defRPr>
            </a:lvl1pPr>
            <a:lvl2pPr marL="548640" indent="0">
              <a:buNone/>
              <a:defRPr sz="192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386170" y="1613403"/>
            <a:ext cx="1865376" cy="636422"/>
          </a:xfrm>
        </p:spPr>
        <p:txBody>
          <a:bodyPr/>
          <a:lstStyle>
            <a:lvl1pPr algn="ctr">
              <a:defRPr lang="en-US" sz="1560" kern="1200" spc="0" baseline="0">
                <a:solidFill>
                  <a:schemeClr val="tx1"/>
                </a:solidFill>
                <a:latin typeface="+mn-lt"/>
                <a:ea typeface="+mn-ea"/>
                <a:cs typeface="+mn-cs"/>
              </a:defRPr>
            </a:lvl1pPr>
          </a:lstStyle>
          <a:p>
            <a:fld id="{20EBB0C4-6273-4C6E-B9BD-2EDC30F1CD52}" type="datetimeFigureOut">
              <a:rPr lang="en-US" smtClean="0"/>
              <a:t>2/4/2026</a:t>
            </a:fld>
            <a:endParaRPr lang="en-US" dirty="0"/>
          </a:p>
        </p:txBody>
      </p:sp>
      <p:sp>
        <p:nvSpPr>
          <p:cNvPr id="5" name="Footer Placeholder 4"/>
          <p:cNvSpPr>
            <a:spLocks noGrp="1"/>
          </p:cNvSpPr>
          <p:nvPr>
            <p:ph type="ftr" sz="quarter" idx="11"/>
          </p:nvPr>
        </p:nvSpPr>
        <p:spPr>
          <a:xfrm>
            <a:off x="1744264" y="6253272"/>
            <a:ext cx="7088429" cy="27432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10325405" y="6253272"/>
            <a:ext cx="2534717" cy="274320"/>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2849979"/>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80160" y="2523744"/>
            <a:ext cx="5705856" cy="4498848"/>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44384" y="2523744"/>
            <a:ext cx="5705856" cy="4498848"/>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smtClean="0"/>
              <a:t>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5036939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83818" y="2489201"/>
            <a:ext cx="5705856" cy="768096"/>
          </a:xfrm>
        </p:spPr>
        <p:txBody>
          <a:bodyPr anchor="ctr">
            <a:normAutofit/>
          </a:bodyPr>
          <a:lstStyle>
            <a:lvl1pPr marL="0" indent="0" algn="ctr">
              <a:spcBef>
                <a:spcPts val="0"/>
              </a:spcBef>
              <a:buNone/>
              <a:defRPr sz="2280" b="0">
                <a:solidFill>
                  <a:schemeClr val="tx2"/>
                </a:solidFill>
                <a:latin typeface="+mn-lt"/>
              </a:defRPr>
            </a:lvl1pPr>
            <a:lvl2pPr marL="548640" indent="0">
              <a:buNone/>
              <a:defRPr sz="228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283818" y="3307078"/>
            <a:ext cx="5705856" cy="3840480"/>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48042" y="2489201"/>
            <a:ext cx="5705856" cy="768096"/>
          </a:xfrm>
        </p:spPr>
        <p:txBody>
          <a:bodyPr anchor="ctr">
            <a:normAutofit/>
          </a:bodyPr>
          <a:lstStyle>
            <a:lvl1pPr marL="0" indent="0" algn="ctr">
              <a:spcBef>
                <a:spcPts val="0"/>
              </a:spcBef>
              <a:buNone/>
              <a:defRPr sz="2280" b="0">
                <a:solidFill>
                  <a:schemeClr val="tx2"/>
                </a:solidFill>
              </a:defRPr>
            </a:lvl1pPr>
            <a:lvl2pPr marL="548640" indent="0">
              <a:buNone/>
              <a:defRPr sz="228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648042" y="3307897"/>
            <a:ext cx="5705856" cy="3840480"/>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smtClean="0"/>
              <a:t>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88397871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5974985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136C-8742-45B2-AF27-D93DF72833A9}" type="datetimeFigureOut">
              <a:rPr lang="en-US" smtClean="0"/>
              <a:t>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841340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94635" y="285293"/>
            <a:ext cx="10237622" cy="76590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824463" y="285293"/>
            <a:ext cx="3511296" cy="76590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155680" y="728870"/>
            <a:ext cx="2916936" cy="1975104"/>
          </a:xfrm>
        </p:spPr>
        <p:txBody>
          <a:bodyPr anchor="b">
            <a:normAutofit/>
          </a:bodyPr>
          <a:lstStyle>
            <a:lvl1pPr algn="l" defTabSz="1097280" rtl="0" eaLnBrk="1" latinLnBrk="0" hangingPunct="1">
              <a:lnSpc>
                <a:spcPct val="90000"/>
              </a:lnSpc>
              <a:spcBef>
                <a:spcPct val="0"/>
              </a:spcBef>
              <a:buNone/>
              <a:defRPr lang="en-US" sz="336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822960" y="731520"/>
            <a:ext cx="9326880" cy="6400800"/>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0" y="2743200"/>
            <a:ext cx="2916936" cy="4206240"/>
          </a:xfrm>
        </p:spPr>
        <p:txBody>
          <a:bodyPr>
            <a:normAutofit/>
          </a:bodyPr>
          <a:lstStyle>
            <a:lvl1pPr marL="0" indent="0">
              <a:lnSpc>
                <a:spcPct val="110000"/>
              </a:lnSpc>
              <a:spcBef>
                <a:spcPts val="960"/>
              </a:spcBef>
              <a:buNone/>
              <a:defRPr sz="168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8" name="Date Placeholder 7"/>
          <p:cNvSpPr>
            <a:spLocks noGrp="1"/>
          </p:cNvSpPr>
          <p:nvPr>
            <p:ph type="dt" sz="half" idx="10"/>
          </p:nvPr>
        </p:nvSpPr>
        <p:spPr/>
        <p:txBody>
          <a:bodyPr/>
          <a:lstStyle/>
          <a:p>
            <a:fld id="{32ABBEA6-7C60-4B02-AE87-00D78D8422AF}" type="datetimeFigureOut">
              <a:rPr lang="en-US" smtClean="0"/>
              <a:t>2/4/2026</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2472412" y="7467602"/>
            <a:ext cx="1755648" cy="329184"/>
          </a:xfrm>
        </p:spPr>
        <p:txBody>
          <a:bodyPr/>
          <a:lstStyle>
            <a:lvl1pPr>
              <a:defRPr>
                <a:solidFill>
                  <a:srgbClr val="FFFFFF"/>
                </a:solidFill>
              </a:defRPr>
            </a:lvl1pPr>
          </a:lstStyle>
          <a:p>
            <a:fld id="{4FAB73BC-B049-4115-A692-8D63A059BFB8}" type="slidenum">
              <a:rPr lang="en-US" smtClean="0"/>
              <a:pPr/>
              <a:t>‹#›</a:t>
            </a:fld>
            <a:endParaRPr lang="en-US" dirty="0"/>
          </a:p>
        </p:txBody>
      </p:sp>
      <p:sp>
        <p:nvSpPr>
          <p:cNvPr id="12" name="Rectangle 11"/>
          <p:cNvSpPr/>
          <p:nvPr/>
        </p:nvSpPr>
        <p:spPr>
          <a:xfrm>
            <a:off x="10989055" y="449885"/>
            <a:ext cx="3182112" cy="732983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400758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10824463" y="285293"/>
            <a:ext cx="3511296" cy="76590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155680" y="724205"/>
            <a:ext cx="2918765" cy="1975104"/>
          </a:xfrm>
        </p:spPr>
        <p:txBody>
          <a:bodyPr anchor="b">
            <a:noAutofit/>
          </a:bodyPr>
          <a:lstStyle>
            <a:lvl1pPr algn="l">
              <a:defRPr sz="336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74319" y="285293"/>
            <a:ext cx="10237622" cy="7659014"/>
          </a:xfrm>
          <a:solidFill>
            <a:schemeClr val="accent1">
              <a:lumMod val="60000"/>
              <a:lumOff val="40000"/>
            </a:schemeClr>
          </a:solidFill>
          <a:ln>
            <a:noFill/>
          </a:ln>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1155680" y="2743200"/>
            <a:ext cx="2918765" cy="4202582"/>
          </a:xfrm>
        </p:spPr>
        <p:txBody>
          <a:bodyPr>
            <a:normAutofit/>
          </a:bodyPr>
          <a:lstStyle>
            <a:lvl1pPr marL="0" indent="0" algn="l">
              <a:lnSpc>
                <a:spcPct val="110000"/>
              </a:lnSpc>
              <a:spcBef>
                <a:spcPts val="960"/>
              </a:spcBef>
              <a:buNone/>
              <a:defRPr sz="168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C9CAD897-D46E-4AD2-BD9B-49DD3E640873}" type="datetimeFigureOut">
              <a:rPr lang="en-US" smtClean="0"/>
              <a:t>2/4/2026</a:t>
            </a:fld>
            <a:endParaRPr lang="en-US" dirty="0"/>
          </a:p>
        </p:txBody>
      </p:sp>
      <p:sp>
        <p:nvSpPr>
          <p:cNvPr id="6" name="Footer Placeholder 5"/>
          <p:cNvSpPr>
            <a:spLocks noGrp="1"/>
          </p:cNvSpPr>
          <p:nvPr>
            <p:ph type="ftr" sz="quarter" idx="11"/>
          </p:nvPr>
        </p:nvSpPr>
        <p:spPr/>
        <p:txBody>
          <a:bodyPr/>
          <a:lstStyle>
            <a:lvl1pPr marL="0" algn="r" defTabSz="1097280" rtl="0" eaLnBrk="1" latinLnBrk="0" hangingPunct="1">
              <a:defRPr lang="en-US" sz="12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2476074" y="7472477"/>
            <a:ext cx="1755648" cy="329184"/>
          </a:xfrm>
        </p:spPr>
        <p:txBody>
          <a:bodyPr/>
          <a:lstStyle>
            <a:lvl1pPr>
              <a:defRPr>
                <a:solidFill>
                  <a:srgbClr val="FFFFFF"/>
                </a:solidFill>
              </a:defRPr>
            </a:lvl1pPr>
          </a:lstStyle>
          <a:p>
            <a:fld id="{4FAB73BC-B049-4115-A692-8D63A059BFB8}" type="slidenum">
              <a:rPr lang="en-US" smtClean="0"/>
              <a:t>‹#›</a:t>
            </a:fld>
            <a:endParaRPr lang="en-US" dirty="0"/>
          </a:p>
        </p:txBody>
      </p:sp>
      <p:sp>
        <p:nvSpPr>
          <p:cNvPr id="10" name="Rectangle 9"/>
          <p:cNvSpPr/>
          <p:nvPr/>
        </p:nvSpPr>
        <p:spPr>
          <a:xfrm>
            <a:off x="10989055" y="449885"/>
            <a:ext cx="3182112" cy="732983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585244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smtClean="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71685100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789920" y="914400"/>
            <a:ext cx="2834640" cy="63093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914400"/>
            <a:ext cx="9692640" cy="63093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smtClean="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1112302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1274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1266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51681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62087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18266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17856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7945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5061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81635" y="285293"/>
            <a:ext cx="14067130" cy="7659014"/>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280160" y="771113"/>
            <a:ext cx="12070080" cy="164592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80160" y="2523744"/>
            <a:ext cx="12070080" cy="47183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29184" y="7569206"/>
            <a:ext cx="3291840" cy="329184"/>
          </a:xfrm>
          <a:prstGeom prst="rect">
            <a:avLst/>
          </a:prstGeom>
        </p:spPr>
        <p:txBody>
          <a:bodyPr vert="horz" lIns="91440" tIns="45720" rIns="91440" bIns="45720" rtlCol="0" anchor="b"/>
          <a:lstStyle>
            <a:lvl1pPr algn="l">
              <a:defRPr sz="1200">
                <a:solidFill>
                  <a:schemeClr val="tx1">
                    <a:lumMod val="75000"/>
                    <a:lumOff val="25000"/>
                  </a:schemeClr>
                </a:solidFill>
              </a:defRPr>
            </a:lvl1pPr>
          </a:lstStyle>
          <a:p>
            <a:fld id="{98624D31-43A5-475A-80CF-332C9F6DCF35}" type="datetimeFigureOut">
              <a:rPr lang="en-US" smtClean="0"/>
              <a:t>2/4/2026</a:t>
            </a:fld>
            <a:endParaRPr lang="en-US" dirty="0"/>
          </a:p>
        </p:txBody>
      </p:sp>
      <p:sp>
        <p:nvSpPr>
          <p:cNvPr id="5" name="Footer Placeholder 4"/>
          <p:cNvSpPr>
            <a:spLocks noGrp="1"/>
          </p:cNvSpPr>
          <p:nvPr>
            <p:ph type="ftr" sz="quarter" idx="3"/>
          </p:nvPr>
        </p:nvSpPr>
        <p:spPr>
          <a:xfrm>
            <a:off x="4187952" y="7569206"/>
            <a:ext cx="6254496" cy="329184"/>
          </a:xfrm>
          <a:prstGeom prst="rect">
            <a:avLst/>
          </a:prstGeom>
        </p:spPr>
        <p:txBody>
          <a:bodyPr vert="horz" lIns="91440" tIns="45720" rIns="91440" bIns="45720" rtlCol="0" anchor="b"/>
          <a:lstStyle>
            <a:lvl1pPr algn="ctr">
              <a:defRPr sz="12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2563856" y="7569206"/>
            <a:ext cx="1755648" cy="329184"/>
          </a:xfrm>
          <a:prstGeom prst="rect">
            <a:avLst/>
          </a:prstGeom>
        </p:spPr>
        <p:txBody>
          <a:bodyPr vert="horz" lIns="91440" tIns="45720" rIns="91440" bIns="45720" rtlCol="0" anchor="b"/>
          <a:lstStyle>
            <a:lvl1pPr algn="r">
              <a:defRPr sz="1200">
                <a:solidFill>
                  <a:schemeClr val="tx1">
                    <a:lumMod val="75000"/>
                    <a:lumOff val="2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66515205"/>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Lst>
  <p:hf sldNum="0" hdr="0" ftr="0" dt="0"/>
  <p:txStyles>
    <p:titleStyle>
      <a:lvl1pPr algn="l" defTabSz="1097280" rtl="0" eaLnBrk="1" latinLnBrk="0" hangingPunct="1">
        <a:lnSpc>
          <a:spcPct val="90000"/>
        </a:lnSpc>
        <a:spcBef>
          <a:spcPct val="0"/>
        </a:spcBef>
        <a:buNone/>
        <a:defRPr lang="en-US" sz="5760" kern="1200" cap="none" spc="0" baseline="0" dirty="0">
          <a:solidFill>
            <a:schemeClr val="tx1">
              <a:lumMod val="85000"/>
              <a:lumOff val="15000"/>
            </a:schemeClr>
          </a:solidFill>
          <a:effectLst/>
          <a:latin typeface="+mj-lt"/>
          <a:ea typeface="+mn-ea"/>
          <a:cs typeface="+mn-cs"/>
        </a:defRPr>
      </a:lvl1pPr>
    </p:titleStyle>
    <p:bodyStyle>
      <a:lvl1pPr marL="219456" indent="-219456" algn="l" defTabSz="1097280" rtl="0" eaLnBrk="1" latinLnBrk="0" hangingPunct="1">
        <a:lnSpc>
          <a:spcPct val="100000"/>
        </a:lnSpc>
        <a:spcBef>
          <a:spcPts val="1080"/>
        </a:spcBef>
        <a:spcAft>
          <a:spcPts val="0"/>
        </a:spcAft>
        <a:buClr>
          <a:schemeClr val="tx1">
            <a:lumMod val="85000"/>
            <a:lumOff val="15000"/>
          </a:schemeClr>
        </a:buClr>
        <a:buFont typeface="Garamond" pitchFamily="18" charset="0"/>
        <a:buChar char="◦"/>
        <a:defRPr sz="2160" kern="1200">
          <a:solidFill>
            <a:schemeClr val="tx1"/>
          </a:solidFill>
          <a:latin typeface="+mn-lt"/>
          <a:ea typeface="+mn-ea"/>
          <a:cs typeface="+mn-cs"/>
        </a:defRPr>
      </a:lvl1pPr>
      <a:lvl2pPr marL="548640" indent="-219456" algn="l" defTabSz="1097280" rtl="0" eaLnBrk="1" latinLnBrk="0" hangingPunct="1">
        <a:lnSpc>
          <a:spcPct val="100000"/>
        </a:lnSpc>
        <a:spcBef>
          <a:spcPts val="600"/>
        </a:spcBef>
        <a:buClr>
          <a:schemeClr val="tx1">
            <a:lumMod val="85000"/>
            <a:lumOff val="15000"/>
          </a:schemeClr>
        </a:buClr>
        <a:buFont typeface="Garamond" pitchFamily="18" charset="0"/>
        <a:buChar char="◦"/>
        <a:defRPr sz="1920" kern="1200">
          <a:solidFill>
            <a:schemeClr val="tx1"/>
          </a:solidFill>
          <a:latin typeface="+mn-lt"/>
          <a:ea typeface="+mn-ea"/>
          <a:cs typeface="+mn-cs"/>
        </a:defRPr>
      </a:lvl2pPr>
      <a:lvl3pPr marL="877824" indent="-219456"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3pPr>
      <a:lvl4pPr marL="1207008" indent="-219456"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4pPr>
      <a:lvl5pPr marL="1536192" indent="-219456"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5pPr>
      <a:lvl6pPr marL="1920000" indent="-274320"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6pPr>
      <a:lvl7pPr marL="2280000" indent="-274320"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7pPr>
      <a:lvl8pPr marL="2640000" indent="-274320"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8pPr>
      <a:lvl9pPr marL="3000000" indent="-274320"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B23E68-3E57-1487-939C-2AFB1127887C}"/>
              </a:ext>
            </a:extLst>
          </p:cNvPr>
          <p:cNvPicPr>
            <a:picLocks noChangeAspect="1"/>
          </p:cNvPicPr>
          <p:nvPr/>
        </p:nvPicPr>
        <p:blipFill>
          <a:blip r:embed="rId2"/>
          <a:stretch>
            <a:fillRect/>
          </a:stretch>
        </p:blipFill>
        <p:spPr>
          <a:xfrm>
            <a:off x="2393660" y="673767"/>
            <a:ext cx="8475386" cy="3295983"/>
          </a:xfrm>
          <a:prstGeom prst="rect">
            <a:avLst/>
          </a:prstGeom>
        </p:spPr>
      </p:pic>
      <p:sp>
        <p:nvSpPr>
          <p:cNvPr id="4" name="TextBox 3">
            <a:extLst>
              <a:ext uri="{FF2B5EF4-FFF2-40B4-BE49-F238E27FC236}">
                <a16:creationId xmlns:a16="http://schemas.microsoft.com/office/drawing/2014/main" id="{8127E8A1-7AEC-8659-65A7-9B54CD12B249}"/>
              </a:ext>
            </a:extLst>
          </p:cNvPr>
          <p:cNvSpPr txBox="1"/>
          <p:nvPr/>
        </p:nvSpPr>
        <p:spPr>
          <a:xfrm>
            <a:off x="1021975" y="4259850"/>
            <a:ext cx="12909177" cy="2031325"/>
          </a:xfrm>
          <a:prstGeom prst="rect">
            <a:avLst/>
          </a:prstGeom>
          <a:noFill/>
        </p:spPr>
        <p:txBody>
          <a:bodyPr wrap="square">
            <a:spAutoFit/>
          </a:bodyPr>
          <a:lstStyle/>
          <a:p>
            <a:r>
              <a:rPr lang="en-US" b="1" dirty="0"/>
              <a:t>PRESENTED TO: 												PRESENTED BY:</a:t>
            </a:r>
          </a:p>
          <a:p>
            <a:r>
              <a:rPr lang="en-US" b="1" dirty="0"/>
              <a:t>Dr. Anirudha Gaikwad</a:t>
            </a:r>
            <a:r>
              <a:rPr lang="en-US" dirty="0"/>
              <a:t> 										</a:t>
            </a:r>
            <a:r>
              <a:rPr lang="en-US" b="1" dirty="0"/>
              <a:t>Priyanshu Srivastava</a:t>
            </a:r>
            <a:br>
              <a:rPr lang="en-US" dirty="0"/>
            </a:br>
            <a:r>
              <a:rPr lang="en-US" dirty="0"/>
              <a:t>Assistant Professor 										       RA2311003040035</a:t>
            </a:r>
            <a:br>
              <a:rPr lang="en-US" dirty="0"/>
            </a:br>
            <a:r>
              <a:rPr lang="en-US" dirty="0"/>
              <a:t>Department of CSE										       Branch: CSE I</a:t>
            </a:r>
          </a:p>
          <a:p>
            <a:br>
              <a:rPr lang="en-US" dirty="0"/>
            </a:br>
            <a:endParaRPr lang="en-US" dirty="0"/>
          </a:p>
          <a:p>
            <a:endParaRPr lang="en-US" dirty="0"/>
          </a:p>
        </p:txBody>
      </p:sp>
    </p:spTree>
    <p:extLst>
      <p:ext uri="{BB962C8B-B14F-4D97-AF65-F5344CB8AC3E}">
        <p14:creationId xmlns:p14="http://schemas.microsoft.com/office/powerpoint/2010/main" val="672509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79659"/>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5C4E3D"/>
                </a:solidFill>
                <a:latin typeface="Libre Baskerville" pitchFamily="34" charset="0"/>
                <a:ea typeface="Libre Baskerville" pitchFamily="34" charset="-122"/>
                <a:cs typeface="Libre Baskerville" pitchFamily="34" charset="-120"/>
              </a:rPr>
              <a:t>Market Basket Analysis: Uncovering Purchase Patterns</a:t>
            </a:r>
            <a:endParaRPr lang="en-US" sz="3900" dirty="0"/>
          </a:p>
        </p:txBody>
      </p:sp>
      <p:sp>
        <p:nvSpPr>
          <p:cNvPr id="3" name="Text 1"/>
          <p:cNvSpPr/>
          <p:nvPr/>
        </p:nvSpPr>
        <p:spPr>
          <a:xfrm>
            <a:off x="793790" y="2796064"/>
            <a:ext cx="8308300" cy="127015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Market Basket Analysis (MBA) is a data mining technique used to identify strong associations or correlations between items that are frequently purchased together. The core idea is to find relationships between products, often in the context of a customer's shopping basket.</a:t>
            </a:r>
            <a:endParaRPr lang="en-US" sz="1550" dirty="0"/>
          </a:p>
        </p:txBody>
      </p:sp>
      <p:sp>
        <p:nvSpPr>
          <p:cNvPr id="4" name="Text 2"/>
          <p:cNvSpPr/>
          <p:nvPr/>
        </p:nvSpPr>
        <p:spPr>
          <a:xfrm>
            <a:off x="793790" y="4244816"/>
            <a:ext cx="8308300" cy="127777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The primary purpose of MBA is to discover 'purchase patterns' or 'co-occurrence' of items. For instance, if a customer buys 'Bread' and 'Butter', what other item are they likely to purchase? This can be represented as an association rule: </a:t>
            </a:r>
            <a:r>
              <a:rPr lang="en-US" sz="1550" dirty="0">
                <a:solidFill>
                  <a:srgbClr val="454240"/>
                </a:solidFill>
                <a:highlight>
                  <a:srgbClr val="F2F0ED"/>
                </a:highlight>
                <a:latin typeface="Consolas" pitchFamily="34" charset="0"/>
                <a:ea typeface="Consolas" pitchFamily="34" charset="-122"/>
                <a:cs typeface="Consolas" pitchFamily="34" charset="-120"/>
              </a:rPr>
              <a:t>{Bread, Butter} → {Jam}</a:t>
            </a:r>
            <a:r>
              <a:rPr lang="en-US" sz="1550" dirty="0">
                <a:solidFill>
                  <a:srgbClr val="454240"/>
                </a:solidFill>
                <a:latin typeface="DM Sans" pitchFamily="34" charset="0"/>
                <a:ea typeface="DM Sans" pitchFamily="34" charset="-122"/>
                <a:cs typeface="DM Sans" pitchFamily="34" charset="-120"/>
              </a:rPr>
              <a:t>, suggesting that customers who buy bread and butter often also buy jam.</a:t>
            </a:r>
            <a:endParaRPr lang="en-US" sz="1550" dirty="0"/>
          </a:p>
        </p:txBody>
      </p:sp>
      <p:sp>
        <p:nvSpPr>
          <p:cNvPr id="5" name="Text 3"/>
          <p:cNvSpPr/>
          <p:nvPr/>
        </p:nvSpPr>
        <p:spPr>
          <a:xfrm>
            <a:off x="793790" y="5701189"/>
            <a:ext cx="8308300" cy="127015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This technique finds extensive applications in retail and e-commerce for shelf arrangement, cross-selling, promotional strategies, and inventory management. By understanding these patterns, businesses can make informed decisions to boost sales and enhance customer experience.</a:t>
            </a:r>
            <a:endParaRPr lang="en-US" sz="1550" dirty="0"/>
          </a:p>
        </p:txBody>
      </p:sp>
      <p:pic>
        <p:nvPicPr>
          <p:cNvPr id="6" name="Image 0" descr="preencoded.png"/>
          <p:cNvPicPr>
            <a:picLocks noChangeAspect="1"/>
          </p:cNvPicPr>
          <p:nvPr/>
        </p:nvPicPr>
        <p:blipFill>
          <a:blip r:embed="rId3"/>
          <a:stretch>
            <a:fillRect/>
          </a:stretch>
        </p:blipFill>
        <p:spPr>
          <a:xfrm>
            <a:off x="9593818" y="3310057"/>
            <a:ext cx="4250293" cy="31472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4730" y="1120021"/>
            <a:ext cx="7552492" cy="542687"/>
          </a:xfrm>
          <a:prstGeom prst="rect">
            <a:avLst/>
          </a:prstGeom>
          <a:noFill/>
          <a:ln/>
        </p:spPr>
        <p:txBody>
          <a:bodyPr wrap="none" lIns="0" tIns="0" rIns="0" bIns="0" rtlCol="0" anchor="t"/>
          <a:lstStyle/>
          <a:p>
            <a:pPr marL="0" indent="0" algn="l">
              <a:lnSpc>
                <a:spcPts val="4250"/>
              </a:lnSpc>
              <a:buNone/>
            </a:pPr>
            <a:r>
              <a:rPr lang="en-US" sz="3400" dirty="0">
                <a:solidFill>
                  <a:srgbClr val="5C4E3D"/>
                </a:solidFill>
                <a:latin typeface="Libre Baskerville" pitchFamily="34" charset="0"/>
                <a:ea typeface="Libre Baskerville" pitchFamily="34" charset="-122"/>
                <a:cs typeface="Libre Baskerville" pitchFamily="34" charset="-120"/>
              </a:rPr>
              <a:t>Association Rules &amp; Key Measures</a:t>
            </a:r>
            <a:endParaRPr lang="en-US" sz="3400" dirty="0"/>
          </a:p>
        </p:txBody>
      </p:sp>
      <p:sp>
        <p:nvSpPr>
          <p:cNvPr id="3" name="Text 1"/>
          <p:cNvSpPr/>
          <p:nvPr/>
        </p:nvSpPr>
        <p:spPr>
          <a:xfrm>
            <a:off x="694730" y="2027515"/>
            <a:ext cx="6408658" cy="1042035"/>
          </a:xfrm>
          <a:prstGeom prst="rect">
            <a:avLst/>
          </a:prstGeom>
          <a:noFill/>
          <a:ln/>
        </p:spPr>
        <p:txBody>
          <a:bodyPr wrap="square" lIns="0" tIns="0" rIns="0" bIns="0" rtlCol="0" anchor="t"/>
          <a:lstStyle/>
          <a:p>
            <a:pPr marL="0" indent="0" algn="l">
              <a:lnSpc>
                <a:spcPts val="2050"/>
              </a:lnSpc>
              <a:buNone/>
            </a:pPr>
            <a:r>
              <a:rPr lang="en-US" sz="1350" dirty="0">
                <a:solidFill>
                  <a:srgbClr val="454240"/>
                </a:solidFill>
                <a:latin typeface="DM Sans" pitchFamily="34" charset="0"/>
                <a:ea typeface="DM Sans" pitchFamily="34" charset="-122"/>
                <a:cs typeface="DM Sans" pitchFamily="34" charset="-120"/>
              </a:rPr>
              <a:t>An association rule is an implication of the form </a:t>
            </a:r>
            <a:r>
              <a:rPr lang="en-US" sz="1350" b="1" dirty="0">
                <a:solidFill>
                  <a:srgbClr val="454240"/>
                </a:solidFill>
                <a:latin typeface="DM Sans" pitchFamily="34" charset="0"/>
                <a:ea typeface="DM Sans" pitchFamily="34" charset="-122"/>
                <a:cs typeface="DM Sans" pitchFamily="34" charset="-120"/>
              </a:rPr>
              <a:t>X → Y</a:t>
            </a:r>
            <a:r>
              <a:rPr lang="en-US" sz="1350" dirty="0">
                <a:solidFill>
                  <a:srgbClr val="454240"/>
                </a:solidFill>
                <a:latin typeface="DM Sans" pitchFamily="34" charset="0"/>
                <a:ea typeface="DM Sans" pitchFamily="34" charset="-122"/>
                <a:cs typeface="DM Sans" pitchFamily="34" charset="-120"/>
              </a:rPr>
              <a:t>, where X and Y are sets of items, and X and Y are disjoint. X is known as the antecedent and Y as the consequent. These rules reveal relationships like "customers who bought X also bought Y."</a:t>
            </a:r>
            <a:endParaRPr lang="en-US" sz="1350" dirty="0"/>
          </a:p>
        </p:txBody>
      </p:sp>
      <p:sp>
        <p:nvSpPr>
          <p:cNvPr id="4" name="Text 2"/>
          <p:cNvSpPr/>
          <p:nvPr/>
        </p:nvSpPr>
        <p:spPr>
          <a:xfrm>
            <a:off x="694730" y="3206353"/>
            <a:ext cx="6408658" cy="521017"/>
          </a:xfrm>
          <a:prstGeom prst="rect">
            <a:avLst/>
          </a:prstGeom>
          <a:noFill/>
          <a:ln/>
        </p:spPr>
        <p:txBody>
          <a:bodyPr wrap="square" lIns="0" tIns="0" rIns="0" bIns="0" rtlCol="0" anchor="t"/>
          <a:lstStyle/>
          <a:p>
            <a:pPr marL="0" indent="0" algn="l">
              <a:lnSpc>
                <a:spcPts val="2050"/>
              </a:lnSpc>
              <a:buNone/>
            </a:pPr>
            <a:r>
              <a:rPr lang="en-US" sz="1350" dirty="0">
                <a:solidFill>
                  <a:srgbClr val="454240"/>
                </a:solidFill>
                <a:latin typeface="DM Sans" pitchFamily="34" charset="0"/>
                <a:ea typeface="DM Sans" pitchFamily="34" charset="-122"/>
                <a:cs typeface="DM Sans" pitchFamily="34" charset="-120"/>
              </a:rPr>
              <a:t>To evaluate the strength and significance of these rules, three key measures are used:</a:t>
            </a:r>
            <a:endParaRPr lang="en-US" sz="1350" dirty="0"/>
          </a:p>
        </p:txBody>
      </p:sp>
      <p:sp>
        <p:nvSpPr>
          <p:cNvPr id="5" name="Text 3"/>
          <p:cNvSpPr/>
          <p:nvPr/>
        </p:nvSpPr>
        <p:spPr>
          <a:xfrm>
            <a:off x="694730" y="3864173"/>
            <a:ext cx="6408658" cy="1824105"/>
          </a:xfrm>
          <a:prstGeom prst="rect">
            <a:avLst/>
          </a:prstGeom>
          <a:noFill/>
          <a:ln/>
        </p:spPr>
        <p:txBody>
          <a:bodyPr wrap="square" lIns="0" tIns="0" rIns="0" bIns="0" rtlCol="0" anchor="t"/>
          <a:lstStyle/>
          <a:p>
            <a:pPr marL="342900" indent="-342900" algn="l">
              <a:lnSpc>
                <a:spcPts val="2050"/>
              </a:lnSpc>
              <a:buSzPct val="100000"/>
              <a:buChar char="•"/>
            </a:pPr>
            <a:r>
              <a:rPr lang="en-US" sz="1350" b="1" dirty="0">
                <a:solidFill>
                  <a:srgbClr val="454240"/>
                </a:solidFill>
                <a:latin typeface="DM Sans" pitchFamily="34" charset="0"/>
                <a:ea typeface="DM Sans" pitchFamily="34" charset="-122"/>
                <a:cs typeface="DM Sans" pitchFamily="34" charset="-120"/>
              </a:rPr>
              <a:t>Support:</a:t>
            </a:r>
            <a:r>
              <a:rPr lang="en-US" sz="1350" dirty="0">
                <a:solidFill>
                  <a:srgbClr val="454240"/>
                </a:solidFill>
                <a:latin typeface="DM Sans" pitchFamily="34" charset="0"/>
                <a:ea typeface="DM Sans" pitchFamily="34" charset="-122"/>
                <a:cs typeface="DM Sans" pitchFamily="34" charset="-120"/>
              </a:rPr>
              <a:t> Indicates how frequently the itemset </a:t>
            </a:r>
            <a:r>
              <a:rPr lang="en-US" sz="1350" dirty="0">
                <a:solidFill>
                  <a:srgbClr val="454240"/>
                </a:solidFill>
                <a:highlight>
                  <a:srgbClr val="F2F0ED"/>
                </a:highlight>
                <a:latin typeface="Consolas" pitchFamily="34" charset="0"/>
                <a:ea typeface="Consolas" pitchFamily="34" charset="-122"/>
                <a:cs typeface="Consolas" pitchFamily="34" charset="-120"/>
              </a:rPr>
              <a:t>X U Y</a:t>
            </a:r>
            <a:r>
              <a:rPr lang="en-US" sz="1350" dirty="0">
                <a:solidFill>
                  <a:srgbClr val="454240"/>
                </a:solidFill>
                <a:latin typeface="DM Sans" pitchFamily="34" charset="0"/>
                <a:ea typeface="DM Sans" pitchFamily="34" charset="-122"/>
                <a:cs typeface="DM Sans" pitchFamily="34" charset="-120"/>
              </a:rPr>
              <a:t> appears in the dataset. A high support value suggests that the itemset is common.</a:t>
            </a:r>
            <a:endParaRPr lang="en-US" sz="1350" dirty="0"/>
          </a:p>
          <a:p>
            <a:pPr marL="342900" indent="-342900" algn="l">
              <a:lnSpc>
                <a:spcPts val="2050"/>
              </a:lnSpc>
              <a:buSzPct val="100000"/>
              <a:buChar char="•"/>
            </a:pPr>
            <a:r>
              <a:rPr lang="en-US" sz="1350" b="1" dirty="0">
                <a:solidFill>
                  <a:srgbClr val="454240"/>
                </a:solidFill>
                <a:latin typeface="DM Sans" pitchFamily="34" charset="0"/>
                <a:ea typeface="DM Sans" pitchFamily="34" charset="-122"/>
                <a:cs typeface="DM Sans" pitchFamily="34" charset="-120"/>
              </a:rPr>
              <a:t>Confidence:</a:t>
            </a:r>
            <a:r>
              <a:rPr lang="en-US" sz="1350" dirty="0">
                <a:solidFill>
                  <a:srgbClr val="454240"/>
                </a:solidFill>
                <a:latin typeface="DM Sans" pitchFamily="34" charset="0"/>
                <a:ea typeface="DM Sans" pitchFamily="34" charset="-122"/>
                <a:cs typeface="DM Sans" pitchFamily="34" charset="-120"/>
              </a:rPr>
              <a:t> Measures how often items in Y appear in transactions that contain X. It quantifies the reliability of the rule.</a:t>
            </a:r>
            <a:endParaRPr lang="en-US" sz="1350" dirty="0"/>
          </a:p>
          <a:p>
            <a:pPr marL="342900" indent="-342900" algn="l">
              <a:lnSpc>
                <a:spcPts val="2050"/>
              </a:lnSpc>
              <a:buSzPct val="100000"/>
              <a:buChar char="•"/>
            </a:pPr>
            <a:r>
              <a:rPr lang="en-US" sz="1350" b="1" dirty="0">
                <a:solidFill>
                  <a:srgbClr val="454240"/>
                </a:solidFill>
                <a:latin typeface="DM Sans" pitchFamily="34" charset="0"/>
                <a:ea typeface="DM Sans" pitchFamily="34" charset="-122"/>
                <a:cs typeface="DM Sans" pitchFamily="34" charset="-120"/>
              </a:rPr>
              <a:t>Lift:</a:t>
            </a:r>
            <a:r>
              <a:rPr lang="en-US" sz="1350" dirty="0">
                <a:solidFill>
                  <a:srgbClr val="454240"/>
                </a:solidFill>
                <a:latin typeface="DM Sans" pitchFamily="34" charset="0"/>
                <a:ea typeface="DM Sans" pitchFamily="34" charset="-122"/>
                <a:cs typeface="DM Sans" pitchFamily="34" charset="-120"/>
              </a:rPr>
              <a:t> Compares the observed frequency of X and Y appearing together with the frequency expected if X and Y were independent. A lift value greater than 1 suggests a positive correlation.</a:t>
            </a:r>
            <a:endParaRPr lang="en-US" sz="1350" dirty="0"/>
          </a:p>
        </p:txBody>
      </p:sp>
      <p:sp>
        <p:nvSpPr>
          <p:cNvPr id="6" name="Text 4"/>
          <p:cNvSpPr/>
          <p:nvPr/>
        </p:nvSpPr>
        <p:spPr>
          <a:xfrm>
            <a:off x="694730" y="5825082"/>
            <a:ext cx="6408658" cy="1042035"/>
          </a:xfrm>
          <a:prstGeom prst="rect">
            <a:avLst/>
          </a:prstGeom>
          <a:noFill/>
          <a:ln/>
        </p:spPr>
        <p:txBody>
          <a:bodyPr wrap="square" lIns="0" tIns="0" rIns="0" bIns="0" rtlCol="0" anchor="t"/>
          <a:lstStyle/>
          <a:p>
            <a:pPr marL="0" indent="0" algn="l">
              <a:lnSpc>
                <a:spcPts val="2050"/>
              </a:lnSpc>
              <a:buNone/>
            </a:pPr>
            <a:r>
              <a:rPr lang="en-US" sz="1350" dirty="0">
                <a:solidFill>
                  <a:srgbClr val="454240"/>
                </a:solidFill>
                <a:latin typeface="DM Sans" pitchFamily="34" charset="0"/>
                <a:ea typeface="DM Sans" pitchFamily="34" charset="-122"/>
                <a:cs typeface="DM Sans" pitchFamily="34" charset="-120"/>
              </a:rPr>
              <a:t>The process typically starts with identifying 'frequent itemsets' (sets of items that appear together often) before generating the actual rules. Rule generation then involves creating rules from these frequent itemsets and filtering them based on minimum confidence thresholds.</a:t>
            </a:r>
            <a:endParaRPr lang="en-US" sz="1350" dirty="0"/>
          </a:p>
        </p:txBody>
      </p:sp>
      <p:sp>
        <p:nvSpPr>
          <p:cNvPr id="7" name="Shape 5"/>
          <p:cNvSpPr/>
          <p:nvPr/>
        </p:nvSpPr>
        <p:spPr>
          <a:xfrm>
            <a:off x="7409617" y="1890713"/>
            <a:ext cx="6658689" cy="5218867"/>
          </a:xfrm>
          <a:prstGeom prst="roundRect">
            <a:avLst>
              <a:gd name="adj" fmla="val 2396"/>
            </a:avLst>
          </a:prstGeom>
          <a:solidFill>
            <a:srgbClr val="B88E23"/>
          </a:solidFill>
          <a:ln/>
        </p:spPr>
      </p:sp>
      <p:sp>
        <p:nvSpPr>
          <p:cNvPr id="8" name="Shape 6"/>
          <p:cNvSpPr/>
          <p:nvPr/>
        </p:nvSpPr>
        <p:spPr>
          <a:xfrm>
            <a:off x="7583210" y="2061686"/>
            <a:ext cx="6311503" cy="1076801"/>
          </a:xfrm>
          <a:prstGeom prst="roundRect">
            <a:avLst>
              <a:gd name="adj" fmla="val 10190"/>
            </a:avLst>
          </a:prstGeom>
          <a:solidFill>
            <a:srgbClr val="B88E23"/>
          </a:solidFill>
          <a:ln w="22860">
            <a:solidFill>
              <a:srgbClr val="DDD3BA"/>
            </a:solidFill>
            <a:prstDash val="solid"/>
          </a:ln>
        </p:spPr>
      </p:sp>
      <p:sp>
        <p:nvSpPr>
          <p:cNvPr id="9" name="Shape 7"/>
          <p:cNvSpPr/>
          <p:nvPr/>
        </p:nvSpPr>
        <p:spPr>
          <a:xfrm>
            <a:off x="7560350" y="2061686"/>
            <a:ext cx="91440" cy="1076801"/>
          </a:xfrm>
          <a:prstGeom prst="roundRect">
            <a:avLst>
              <a:gd name="adj" fmla="val 79786"/>
            </a:avLst>
          </a:prstGeom>
          <a:solidFill>
            <a:srgbClr val="B88E23"/>
          </a:solidFill>
          <a:ln/>
        </p:spPr>
      </p:sp>
      <p:sp>
        <p:nvSpPr>
          <p:cNvPr id="10" name="Text 8"/>
          <p:cNvSpPr/>
          <p:nvPr/>
        </p:nvSpPr>
        <p:spPr>
          <a:xfrm>
            <a:off x="7848243" y="2258139"/>
            <a:ext cx="2171224" cy="271463"/>
          </a:xfrm>
          <a:prstGeom prst="rect">
            <a:avLst/>
          </a:prstGeom>
          <a:noFill/>
          <a:ln/>
        </p:spPr>
        <p:txBody>
          <a:bodyPr wrap="none" lIns="0" tIns="0" rIns="0" bIns="0" rtlCol="0" anchor="t"/>
          <a:lstStyle/>
          <a:p>
            <a:pPr marL="0" indent="0" algn="l">
              <a:lnSpc>
                <a:spcPts val="2100"/>
              </a:lnSpc>
              <a:buNone/>
            </a:pPr>
            <a:r>
              <a:rPr lang="en-US" sz="1700" dirty="0">
                <a:solidFill>
                  <a:srgbClr val="000000"/>
                </a:solidFill>
                <a:latin typeface="Libre Baskerville" pitchFamily="34" charset="0"/>
                <a:ea typeface="Libre Baskerville" pitchFamily="34" charset="-122"/>
                <a:cs typeface="Libre Baskerville" pitchFamily="34" charset="-120"/>
              </a:rPr>
              <a:t>Support(X → Y)</a:t>
            </a:r>
            <a:endParaRPr lang="en-US" sz="1700" dirty="0"/>
          </a:p>
        </p:txBody>
      </p:sp>
      <p:sp>
        <p:nvSpPr>
          <p:cNvPr id="11" name="Text 9"/>
          <p:cNvSpPr/>
          <p:nvPr/>
        </p:nvSpPr>
        <p:spPr>
          <a:xfrm>
            <a:off x="7848243" y="2681526"/>
            <a:ext cx="5850017" cy="260509"/>
          </a:xfrm>
          <a:prstGeom prst="rect">
            <a:avLst/>
          </a:prstGeom>
          <a:noFill/>
          <a:ln/>
        </p:spPr>
        <p:txBody>
          <a:bodyPr wrap="none" lIns="0" tIns="0" rIns="0" bIns="0" rtlCol="0" anchor="t"/>
          <a:lstStyle/>
          <a:p>
            <a:pPr marL="0" indent="0" algn="l">
              <a:lnSpc>
                <a:spcPts val="2050"/>
              </a:lnSpc>
              <a:buNone/>
            </a:pPr>
            <a:r>
              <a:rPr lang="en-US" sz="1350" dirty="0">
                <a:solidFill>
                  <a:srgbClr val="000000"/>
                </a:solidFill>
                <a:latin typeface="DM Sans" pitchFamily="34" charset="0"/>
                <a:ea typeface="DM Sans" pitchFamily="34" charset="-122"/>
                <a:cs typeface="DM Sans" pitchFamily="34" charset="-120"/>
              </a:rPr>
              <a:t>P(X U Y)</a:t>
            </a:r>
            <a:endParaRPr lang="en-US" sz="1350" dirty="0"/>
          </a:p>
        </p:txBody>
      </p:sp>
      <p:sp>
        <p:nvSpPr>
          <p:cNvPr id="12" name="Shape 10"/>
          <p:cNvSpPr/>
          <p:nvPr/>
        </p:nvSpPr>
        <p:spPr>
          <a:xfrm>
            <a:off x="7583210" y="3290411"/>
            <a:ext cx="6311503" cy="1076801"/>
          </a:xfrm>
          <a:prstGeom prst="roundRect">
            <a:avLst>
              <a:gd name="adj" fmla="val 10190"/>
            </a:avLst>
          </a:prstGeom>
          <a:solidFill>
            <a:srgbClr val="B88E23"/>
          </a:solidFill>
          <a:ln w="22860">
            <a:solidFill>
              <a:srgbClr val="DDD3BA"/>
            </a:solidFill>
            <a:prstDash val="solid"/>
          </a:ln>
        </p:spPr>
      </p:sp>
      <p:sp>
        <p:nvSpPr>
          <p:cNvPr id="13" name="Shape 11"/>
          <p:cNvSpPr/>
          <p:nvPr/>
        </p:nvSpPr>
        <p:spPr>
          <a:xfrm>
            <a:off x="7560350" y="3290411"/>
            <a:ext cx="91440" cy="1076801"/>
          </a:xfrm>
          <a:prstGeom prst="roundRect">
            <a:avLst>
              <a:gd name="adj" fmla="val 79786"/>
            </a:avLst>
          </a:prstGeom>
          <a:solidFill>
            <a:srgbClr val="B88E23"/>
          </a:solidFill>
          <a:ln/>
        </p:spPr>
      </p:sp>
      <p:sp>
        <p:nvSpPr>
          <p:cNvPr id="14" name="Text 12"/>
          <p:cNvSpPr/>
          <p:nvPr/>
        </p:nvSpPr>
        <p:spPr>
          <a:xfrm>
            <a:off x="7848243" y="3486864"/>
            <a:ext cx="2171224" cy="271463"/>
          </a:xfrm>
          <a:prstGeom prst="rect">
            <a:avLst/>
          </a:prstGeom>
          <a:noFill/>
          <a:ln/>
        </p:spPr>
        <p:txBody>
          <a:bodyPr wrap="none" lIns="0" tIns="0" rIns="0" bIns="0" rtlCol="0" anchor="t"/>
          <a:lstStyle/>
          <a:p>
            <a:pPr marL="0" indent="0" algn="l">
              <a:lnSpc>
                <a:spcPts val="2100"/>
              </a:lnSpc>
              <a:buNone/>
            </a:pPr>
            <a:r>
              <a:rPr lang="en-US" sz="1700" dirty="0">
                <a:solidFill>
                  <a:srgbClr val="000000"/>
                </a:solidFill>
                <a:latin typeface="Libre Baskerville" pitchFamily="34" charset="0"/>
                <a:ea typeface="Libre Baskerville" pitchFamily="34" charset="-122"/>
                <a:cs typeface="Libre Baskerville" pitchFamily="34" charset="-120"/>
              </a:rPr>
              <a:t>Confidence(X → Y)</a:t>
            </a:r>
            <a:endParaRPr lang="en-US" sz="1700" dirty="0"/>
          </a:p>
        </p:txBody>
      </p:sp>
      <p:sp>
        <p:nvSpPr>
          <p:cNvPr id="15" name="Text 13"/>
          <p:cNvSpPr/>
          <p:nvPr/>
        </p:nvSpPr>
        <p:spPr>
          <a:xfrm>
            <a:off x="7848243" y="3910251"/>
            <a:ext cx="5850017" cy="260509"/>
          </a:xfrm>
          <a:prstGeom prst="rect">
            <a:avLst/>
          </a:prstGeom>
          <a:noFill/>
          <a:ln/>
        </p:spPr>
        <p:txBody>
          <a:bodyPr wrap="none" lIns="0" tIns="0" rIns="0" bIns="0" rtlCol="0" anchor="t"/>
          <a:lstStyle/>
          <a:p>
            <a:pPr marL="0" indent="0" algn="l">
              <a:lnSpc>
                <a:spcPts val="2050"/>
              </a:lnSpc>
              <a:buNone/>
            </a:pPr>
            <a:r>
              <a:rPr lang="en-US" sz="1350" dirty="0">
                <a:solidFill>
                  <a:srgbClr val="000000"/>
                </a:solidFill>
                <a:latin typeface="DM Sans" pitchFamily="34" charset="0"/>
                <a:ea typeface="DM Sans" pitchFamily="34" charset="-122"/>
                <a:cs typeface="DM Sans" pitchFamily="34" charset="-120"/>
              </a:rPr>
              <a:t>P(Y|X) = P(X U Y) / P(X)</a:t>
            </a:r>
            <a:endParaRPr lang="en-US" sz="1350" dirty="0"/>
          </a:p>
        </p:txBody>
      </p:sp>
      <p:sp>
        <p:nvSpPr>
          <p:cNvPr id="16" name="Shape 14"/>
          <p:cNvSpPr/>
          <p:nvPr/>
        </p:nvSpPr>
        <p:spPr>
          <a:xfrm>
            <a:off x="7583210" y="4519136"/>
            <a:ext cx="6311503" cy="1076801"/>
          </a:xfrm>
          <a:prstGeom prst="roundRect">
            <a:avLst>
              <a:gd name="adj" fmla="val 10190"/>
            </a:avLst>
          </a:prstGeom>
          <a:solidFill>
            <a:srgbClr val="B88E23"/>
          </a:solidFill>
          <a:ln w="22860">
            <a:solidFill>
              <a:srgbClr val="DDD3BA"/>
            </a:solidFill>
            <a:prstDash val="solid"/>
          </a:ln>
        </p:spPr>
      </p:sp>
      <p:sp>
        <p:nvSpPr>
          <p:cNvPr id="17" name="Shape 15"/>
          <p:cNvSpPr/>
          <p:nvPr/>
        </p:nvSpPr>
        <p:spPr>
          <a:xfrm>
            <a:off x="7560350" y="4519136"/>
            <a:ext cx="91440" cy="1076801"/>
          </a:xfrm>
          <a:prstGeom prst="roundRect">
            <a:avLst>
              <a:gd name="adj" fmla="val 79786"/>
            </a:avLst>
          </a:prstGeom>
          <a:solidFill>
            <a:srgbClr val="B88E23"/>
          </a:solidFill>
          <a:ln/>
        </p:spPr>
      </p:sp>
      <p:sp>
        <p:nvSpPr>
          <p:cNvPr id="18" name="Text 16"/>
          <p:cNvSpPr/>
          <p:nvPr/>
        </p:nvSpPr>
        <p:spPr>
          <a:xfrm>
            <a:off x="7848243" y="4715589"/>
            <a:ext cx="2171224" cy="271463"/>
          </a:xfrm>
          <a:prstGeom prst="rect">
            <a:avLst/>
          </a:prstGeom>
          <a:noFill/>
          <a:ln/>
        </p:spPr>
        <p:txBody>
          <a:bodyPr wrap="none" lIns="0" tIns="0" rIns="0" bIns="0" rtlCol="0" anchor="t"/>
          <a:lstStyle/>
          <a:p>
            <a:pPr marL="0" indent="0" algn="l">
              <a:lnSpc>
                <a:spcPts val="2100"/>
              </a:lnSpc>
              <a:buNone/>
            </a:pPr>
            <a:r>
              <a:rPr lang="en-US" sz="1700" dirty="0">
                <a:solidFill>
                  <a:srgbClr val="000000"/>
                </a:solidFill>
                <a:latin typeface="Libre Baskerville" pitchFamily="34" charset="0"/>
                <a:ea typeface="Libre Baskerville" pitchFamily="34" charset="-122"/>
                <a:cs typeface="Libre Baskerville" pitchFamily="34" charset="-120"/>
              </a:rPr>
              <a:t>Lift(X → Y)</a:t>
            </a:r>
            <a:endParaRPr lang="en-US" sz="1700" dirty="0"/>
          </a:p>
        </p:txBody>
      </p:sp>
      <p:sp>
        <p:nvSpPr>
          <p:cNvPr id="19" name="Text 17"/>
          <p:cNvSpPr/>
          <p:nvPr/>
        </p:nvSpPr>
        <p:spPr>
          <a:xfrm>
            <a:off x="7848243" y="5138976"/>
            <a:ext cx="5850017" cy="260509"/>
          </a:xfrm>
          <a:prstGeom prst="rect">
            <a:avLst/>
          </a:prstGeom>
          <a:noFill/>
          <a:ln/>
        </p:spPr>
        <p:txBody>
          <a:bodyPr wrap="none" lIns="0" tIns="0" rIns="0" bIns="0" rtlCol="0" anchor="t"/>
          <a:lstStyle/>
          <a:p>
            <a:pPr marL="0" indent="0" algn="l">
              <a:lnSpc>
                <a:spcPts val="2050"/>
              </a:lnSpc>
              <a:buNone/>
            </a:pPr>
            <a:r>
              <a:rPr lang="en-US" sz="1350" dirty="0">
                <a:solidFill>
                  <a:srgbClr val="000000"/>
                </a:solidFill>
                <a:latin typeface="DM Sans" pitchFamily="34" charset="0"/>
                <a:ea typeface="DM Sans" pitchFamily="34" charset="-122"/>
                <a:cs typeface="DM Sans" pitchFamily="34" charset="-120"/>
              </a:rPr>
              <a:t>P(Y|X) / P(Y)</a:t>
            </a:r>
            <a:endParaRPr lang="en-US" sz="1350" dirty="0"/>
          </a:p>
        </p:txBody>
      </p:sp>
      <p:pic>
        <p:nvPicPr>
          <p:cNvPr id="23" name="Picture 22">
            <a:extLst>
              <a:ext uri="{FF2B5EF4-FFF2-40B4-BE49-F238E27FC236}">
                <a16:creationId xmlns:a16="http://schemas.microsoft.com/office/drawing/2014/main" id="{E1050E78-49E8-95F0-C337-AA0DE895DEF3}"/>
              </a:ext>
            </a:extLst>
          </p:cNvPr>
          <p:cNvPicPr>
            <a:picLocks noChangeAspect="1"/>
          </p:cNvPicPr>
          <p:nvPr/>
        </p:nvPicPr>
        <p:blipFill>
          <a:blip r:embed="rId3"/>
          <a:stretch>
            <a:fillRect/>
          </a:stretch>
        </p:blipFill>
        <p:spPr>
          <a:xfrm>
            <a:off x="7409616" y="1885108"/>
            <a:ext cx="6658689" cy="52244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17721"/>
            <a:ext cx="5755719" cy="620078"/>
          </a:xfrm>
          <a:prstGeom prst="rect">
            <a:avLst/>
          </a:prstGeom>
          <a:noFill/>
          <a:ln/>
        </p:spPr>
        <p:txBody>
          <a:bodyPr wrap="none" lIns="0" tIns="0" rIns="0" bIns="0" rtlCol="0" anchor="t"/>
          <a:lstStyle/>
          <a:p>
            <a:pPr marL="0" indent="0" algn="l">
              <a:lnSpc>
                <a:spcPts val="4850"/>
              </a:lnSpc>
              <a:buNone/>
            </a:pPr>
            <a:r>
              <a:rPr lang="en-US" sz="3900" dirty="0">
                <a:solidFill>
                  <a:srgbClr val="5C4E3D"/>
                </a:solidFill>
                <a:latin typeface="Libre Baskerville" pitchFamily="34" charset="0"/>
                <a:ea typeface="Libre Baskerville" pitchFamily="34" charset="-122"/>
                <a:cs typeface="Libre Baskerville" pitchFamily="34" charset="-120"/>
              </a:rPr>
              <a:t>The Apriori Algorithm</a:t>
            </a:r>
            <a:endParaRPr lang="en-US" sz="3900" dirty="0"/>
          </a:p>
        </p:txBody>
      </p:sp>
      <p:sp>
        <p:nvSpPr>
          <p:cNvPr id="3" name="Text 1"/>
          <p:cNvSpPr/>
          <p:nvPr/>
        </p:nvSpPr>
        <p:spPr>
          <a:xfrm>
            <a:off x="793790" y="1834634"/>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The Apriori algorithm is a classic method for mining frequent itemsets for Boolean association rules. Its core principle states that </a:t>
            </a:r>
            <a:r>
              <a:rPr lang="en-US" sz="1550" b="1" dirty="0">
                <a:solidFill>
                  <a:srgbClr val="454240"/>
                </a:solidFill>
                <a:latin typeface="DM Sans" pitchFamily="34" charset="0"/>
                <a:ea typeface="DM Sans" pitchFamily="34" charset="-122"/>
                <a:cs typeface="DM Sans" pitchFamily="34" charset="-120"/>
              </a:rPr>
              <a:t>if an itemset is frequent, then all of its subsets must also be frequent</a:t>
            </a:r>
            <a:r>
              <a:rPr lang="en-US" sz="1550" dirty="0">
                <a:solidFill>
                  <a:srgbClr val="454240"/>
                </a:solidFill>
                <a:latin typeface="DM Sans" pitchFamily="34" charset="0"/>
                <a:ea typeface="DM Sans" pitchFamily="34" charset="-122"/>
                <a:cs typeface="DM Sans" pitchFamily="34" charset="-120"/>
              </a:rPr>
              <a:t>. Conversely, if an itemset is infrequent, then all of its supersets must also be infrequent, enabling efficient pruning.</a:t>
            </a:r>
            <a:endParaRPr lang="en-US" sz="1550" dirty="0"/>
          </a:p>
        </p:txBody>
      </p:sp>
      <p:sp>
        <p:nvSpPr>
          <p:cNvPr id="4" name="Text 2"/>
          <p:cNvSpPr/>
          <p:nvPr/>
        </p:nvSpPr>
        <p:spPr>
          <a:xfrm>
            <a:off x="793790" y="301049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Libre Baskerville Light" pitchFamily="34" charset="0"/>
                <a:ea typeface="Libre Baskerville Light" pitchFamily="34" charset="-122"/>
                <a:cs typeface="Libre Baskerville Light" pitchFamily="34" charset="-120"/>
              </a:rPr>
              <a:t>01</a:t>
            </a:r>
            <a:endParaRPr lang="en-US" sz="1550" dirty="0"/>
          </a:p>
        </p:txBody>
      </p:sp>
      <p:sp>
        <p:nvSpPr>
          <p:cNvPr id="5" name="Shape 3"/>
          <p:cNvSpPr/>
          <p:nvPr/>
        </p:nvSpPr>
        <p:spPr>
          <a:xfrm>
            <a:off x="793790" y="3324820"/>
            <a:ext cx="6422231" cy="22860"/>
          </a:xfrm>
          <a:prstGeom prst="rect">
            <a:avLst/>
          </a:prstGeom>
          <a:solidFill>
            <a:srgbClr val="B88E23"/>
          </a:solidFill>
          <a:ln/>
        </p:spPr>
      </p:sp>
      <p:sp>
        <p:nvSpPr>
          <p:cNvPr id="6" name="Text 4"/>
          <p:cNvSpPr/>
          <p:nvPr/>
        </p:nvSpPr>
        <p:spPr>
          <a:xfrm>
            <a:off x="793790" y="3469719"/>
            <a:ext cx="2808923" cy="310158"/>
          </a:xfrm>
          <a:prstGeom prst="rect">
            <a:avLst/>
          </a:prstGeom>
          <a:noFill/>
          <a:ln/>
        </p:spPr>
        <p:txBody>
          <a:bodyPr wrap="none" lIns="0" tIns="0" rIns="0" bIns="0" rtlCol="0" anchor="t"/>
          <a:lstStyle/>
          <a:p>
            <a:pPr marL="0" indent="0" algn="l">
              <a:lnSpc>
                <a:spcPts val="2400"/>
              </a:lnSpc>
              <a:buNone/>
            </a:pPr>
            <a:r>
              <a:rPr lang="en-US" sz="1950" dirty="0">
                <a:solidFill>
                  <a:srgbClr val="454240"/>
                </a:solidFill>
                <a:latin typeface="Libre Baskerville" pitchFamily="34" charset="0"/>
                <a:ea typeface="Libre Baskerville" pitchFamily="34" charset="-122"/>
                <a:cs typeface="Libre Baskerville" pitchFamily="34" charset="-120"/>
              </a:rPr>
              <a:t>Candidate Generation</a:t>
            </a:r>
            <a:endParaRPr lang="en-US" sz="1950" dirty="0"/>
          </a:p>
        </p:txBody>
      </p:sp>
      <p:sp>
        <p:nvSpPr>
          <p:cNvPr id="7" name="Text 5"/>
          <p:cNvSpPr/>
          <p:nvPr/>
        </p:nvSpPr>
        <p:spPr>
          <a:xfrm>
            <a:off x="793790" y="3898940"/>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In each iteration, Apriori generates candidate itemsets of length 'k' from the frequent itemsets of length 'k-1'.</a:t>
            </a:r>
            <a:endParaRPr lang="en-US" sz="1550" dirty="0"/>
          </a:p>
        </p:txBody>
      </p:sp>
      <p:sp>
        <p:nvSpPr>
          <p:cNvPr id="8" name="Text 6"/>
          <p:cNvSpPr/>
          <p:nvPr/>
        </p:nvSpPr>
        <p:spPr>
          <a:xfrm>
            <a:off x="7414379" y="301049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Libre Baskerville Light" pitchFamily="34" charset="0"/>
                <a:ea typeface="Libre Baskerville Light" pitchFamily="34" charset="-122"/>
                <a:cs typeface="Libre Baskerville Light" pitchFamily="34" charset="-120"/>
              </a:rPr>
              <a:t>02</a:t>
            </a:r>
            <a:endParaRPr lang="en-US" sz="1550" dirty="0"/>
          </a:p>
        </p:txBody>
      </p:sp>
      <p:sp>
        <p:nvSpPr>
          <p:cNvPr id="9" name="Shape 7"/>
          <p:cNvSpPr/>
          <p:nvPr/>
        </p:nvSpPr>
        <p:spPr>
          <a:xfrm>
            <a:off x="7414379" y="3324820"/>
            <a:ext cx="6422231" cy="22860"/>
          </a:xfrm>
          <a:prstGeom prst="rect">
            <a:avLst/>
          </a:prstGeom>
          <a:solidFill>
            <a:srgbClr val="B88E23"/>
          </a:solidFill>
          <a:ln/>
        </p:spPr>
      </p:sp>
      <p:sp>
        <p:nvSpPr>
          <p:cNvPr id="10" name="Text 8"/>
          <p:cNvSpPr/>
          <p:nvPr/>
        </p:nvSpPr>
        <p:spPr>
          <a:xfrm>
            <a:off x="7414379" y="346971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54240"/>
                </a:solidFill>
                <a:latin typeface="Libre Baskerville" pitchFamily="34" charset="0"/>
                <a:ea typeface="Libre Baskerville" pitchFamily="34" charset="-122"/>
                <a:cs typeface="Libre Baskerville" pitchFamily="34" charset="-120"/>
              </a:rPr>
              <a:t>Pruning</a:t>
            </a:r>
            <a:endParaRPr lang="en-US" sz="1950" dirty="0"/>
          </a:p>
        </p:txBody>
      </p:sp>
      <p:sp>
        <p:nvSpPr>
          <p:cNvPr id="11" name="Text 9"/>
          <p:cNvSpPr/>
          <p:nvPr/>
        </p:nvSpPr>
        <p:spPr>
          <a:xfrm>
            <a:off x="7414379" y="3898940"/>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It then prunes candidates by removing any itemset whose subset is not frequent. This significantly reduces the search space.</a:t>
            </a:r>
            <a:endParaRPr lang="en-US" sz="1550" dirty="0"/>
          </a:p>
        </p:txBody>
      </p:sp>
      <p:sp>
        <p:nvSpPr>
          <p:cNvPr id="12" name="Text 10"/>
          <p:cNvSpPr/>
          <p:nvPr/>
        </p:nvSpPr>
        <p:spPr>
          <a:xfrm>
            <a:off x="793790" y="488120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Libre Baskerville Light" pitchFamily="34" charset="0"/>
                <a:ea typeface="Libre Baskerville Light" pitchFamily="34" charset="-122"/>
                <a:cs typeface="Libre Baskerville Light" pitchFamily="34" charset="-120"/>
              </a:rPr>
              <a:t>03</a:t>
            </a:r>
            <a:endParaRPr lang="en-US" sz="1550" dirty="0"/>
          </a:p>
        </p:txBody>
      </p:sp>
      <p:sp>
        <p:nvSpPr>
          <p:cNvPr id="13" name="Shape 11"/>
          <p:cNvSpPr/>
          <p:nvPr/>
        </p:nvSpPr>
        <p:spPr>
          <a:xfrm>
            <a:off x="793790" y="5195530"/>
            <a:ext cx="6422231" cy="22860"/>
          </a:xfrm>
          <a:prstGeom prst="rect">
            <a:avLst/>
          </a:prstGeom>
          <a:solidFill>
            <a:srgbClr val="B88E23"/>
          </a:solidFill>
          <a:ln/>
        </p:spPr>
      </p:sp>
      <p:sp>
        <p:nvSpPr>
          <p:cNvPr id="14" name="Text 12"/>
          <p:cNvSpPr/>
          <p:nvPr/>
        </p:nvSpPr>
        <p:spPr>
          <a:xfrm>
            <a:off x="793790" y="534042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54240"/>
                </a:solidFill>
                <a:latin typeface="Libre Baskerville" pitchFamily="34" charset="0"/>
                <a:ea typeface="Libre Baskerville" pitchFamily="34" charset="-122"/>
                <a:cs typeface="Libre Baskerville" pitchFamily="34" charset="-120"/>
              </a:rPr>
              <a:t>Support Counting</a:t>
            </a:r>
            <a:endParaRPr lang="en-US" sz="1950" dirty="0"/>
          </a:p>
        </p:txBody>
      </p:sp>
      <p:sp>
        <p:nvSpPr>
          <p:cNvPr id="15" name="Text 13"/>
          <p:cNvSpPr/>
          <p:nvPr/>
        </p:nvSpPr>
        <p:spPr>
          <a:xfrm>
            <a:off x="793790" y="5769650"/>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The algorithm performs multiple passes over the database to count the support for remaining candidate itemsets, identifying truly frequent ones.</a:t>
            </a:r>
            <a:endParaRPr lang="en-US" sz="1550" dirty="0"/>
          </a:p>
        </p:txBody>
      </p:sp>
      <p:sp>
        <p:nvSpPr>
          <p:cNvPr id="16" name="Text 14"/>
          <p:cNvSpPr/>
          <p:nvPr/>
        </p:nvSpPr>
        <p:spPr>
          <a:xfrm>
            <a:off x="7414379" y="488120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Libre Baskerville Light" pitchFamily="34" charset="0"/>
                <a:ea typeface="Libre Baskerville Light" pitchFamily="34" charset="-122"/>
                <a:cs typeface="Libre Baskerville Light" pitchFamily="34" charset="-120"/>
              </a:rPr>
              <a:t>04</a:t>
            </a:r>
            <a:endParaRPr lang="en-US" sz="1550" dirty="0"/>
          </a:p>
        </p:txBody>
      </p:sp>
      <p:sp>
        <p:nvSpPr>
          <p:cNvPr id="17" name="Shape 15"/>
          <p:cNvSpPr/>
          <p:nvPr/>
        </p:nvSpPr>
        <p:spPr>
          <a:xfrm>
            <a:off x="7414379" y="5195530"/>
            <a:ext cx="6422231" cy="22860"/>
          </a:xfrm>
          <a:prstGeom prst="rect">
            <a:avLst/>
          </a:prstGeom>
          <a:solidFill>
            <a:srgbClr val="B88E23"/>
          </a:solidFill>
          <a:ln/>
        </p:spPr>
      </p:sp>
      <p:sp>
        <p:nvSpPr>
          <p:cNvPr id="18" name="Text 16"/>
          <p:cNvSpPr/>
          <p:nvPr/>
        </p:nvSpPr>
        <p:spPr>
          <a:xfrm>
            <a:off x="7414379" y="534042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454240"/>
                </a:solidFill>
                <a:latin typeface="Libre Baskerville" pitchFamily="34" charset="0"/>
                <a:ea typeface="Libre Baskerville" pitchFamily="34" charset="-122"/>
                <a:cs typeface="Libre Baskerville" pitchFamily="34" charset="-120"/>
              </a:rPr>
              <a:t>Rule Generation</a:t>
            </a:r>
            <a:endParaRPr lang="en-US" sz="1950" dirty="0"/>
          </a:p>
        </p:txBody>
      </p:sp>
      <p:sp>
        <p:nvSpPr>
          <p:cNvPr id="19" name="Text 17"/>
          <p:cNvSpPr/>
          <p:nvPr/>
        </p:nvSpPr>
        <p:spPr>
          <a:xfrm>
            <a:off x="7414379" y="5769650"/>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Once all frequent itemsets are found, association rules are generated and filtered based on minimum confidence thresholds.</a:t>
            </a:r>
            <a:endParaRPr lang="en-US" sz="1550" dirty="0"/>
          </a:p>
        </p:txBody>
      </p:sp>
      <p:sp>
        <p:nvSpPr>
          <p:cNvPr id="20" name="Text 18"/>
          <p:cNvSpPr/>
          <p:nvPr/>
        </p:nvSpPr>
        <p:spPr>
          <a:xfrm>
            <a:off x="793790" y="7094339"/>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While intuitive, Apriori's performance can degrade with very large datasets due to repeated database scans.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2714" y="729020"/>
            <a:ext cx="8934569" cy="595908"/>
          </a:xfrm>
          <a:prstGeom prst="rect">
            <a:avLst/>
          </a:prstGeom>
          <a:noFill/>
          <a:ln/>
        </p:spPr>
        <p:txBody>
          <a:bodyPr wrap="none" lIns="0" tIns="0" rIns="0" bIns="0" rtlCol="0" anchor="t"/>
          <a:lstStyle/>
          <a:p>
            <a:pPr marL="0" indent="0" algn="l">
              <a:lnSpc>
                <a:spcPts val="4650"/>
              </a:lnSpc>
              <a:buNone/>
            </a:pPr>
            <a:r>
              <a:rPr lang="en-US" sz="3750" dirty="0">
                <a:solidFill>
                  <a:srgbClr val="5C4E3D"/>
                </a:solidFill>
                <a:latin typeface="Libre Baskerville" pitchFamily="34" charset="0"/>
                <a:ea typeface="Libre Baskerville" pitchFamily="34" charset="-122"/>
                <a:cs typeface="Libre Baskerville" pitchFamily="34" charset="-120"/>
              </a:rPr>
              <a:t>Limitations of the Apriori Algorithm</a:t>
            </a:r>
            <a:endParaRPr lang="en-US" sz="3750" dirty="0"/>
          </a:p>
        </p:txBody>
      </p:sp>
      <p:sp>
        <p:nvSpPr>
          <p:cNvPr id="3" name="Text 1"/>
          <p:cNvSpPr/>
          <p:nvPr/>
        </p:nvSpPr>
        <p:spPr>
          <a:xfrm>
            <a:off x="762714" y="1691402"/>
            <a:ext cx="13104971" cy="299204"/>
          </a:xfrm>
          <a:prstGeom prst="rect">
            <a:avLst/>
          </a:prstGeom>
          <a:noFill/>
          <a:ln/>
        </p:spPr>
        <p:txBody>
          <a:bodyPr wrap="none" lIns="0" tIns="0" rIns="0" bIns="0" rtlCol="0" anchor="t"/>
          <a:lstStyle/>
          <a:p>
            <a:pPr marL="0" indent="0" algn="l">
              <a:lnSpc>
                <a:spcPts val="2350"/>
              </a:lnSpc>
              <a:buNone/>
            </a:pPr>
            <a:r>
              <a:rPr lang="en-US" sz="1500" dirty="0">
                <a:solidFill>
                  <a:srgbClr val="454240"/>
                </a:solidFill>
                <a:latin typeface="DM Sans" pitchFamily="34" charset="0"/>
                <a:ea typeface="DM Sans" pitchFamily="34" charset="-122"/>
                <a:cs typeface="DM Sans" pitchFamily="34" charset="-120"/>
              </a:rPr>
              <a:t>Despite its foundational importance, the Apriori algorithm faces several challenges, particularly when dealing with large and dense datasets.</a:t>
            </a:r>
            <a:endParaRPr lang="en-US" sz="1500" dirty="0"/>
          </a:p>
        </p:txBody>
      </p:sp>
      <p:sp>
        <p:nvSpPr>
          <p:cNvPr id="4" name="Shape 2"/>
          <p:cNvSpPr/>
          <p:nvPr/>
        </p:nvSpPr>
        <p:spPr>
          <a:xfrm>
            <a:off x="762714" y="2196703"/>
            <a:ext cx="6460808" cy="2158008"/>
          </a:xfrm>
          <a:prstGeom prst="roundRect">
            <a:avLst>
              <a:gd name="adj" fmla="val 3712"/>
            </a:avLst>
          </a:prstGeom>
          <a:solidFill>
            <a:srgbClr val="F7EDD4"/>
          </a:solidFill>
          <a:ln w="7620">
            <a:solidFill>
              <a:srgbClr val="DDD3BA"/>
            </a:solidFill>
            <a:prstDash val="solid"/>
          </a:ln>
        </p:spPr>
      </p:sp>
      <p:sp>
        <p:nvSpPr>
          <p:cNvPr id="5" name="Shape 3"/>
          <p:cNvSpPr/>
          <p:nvPr/>
        </p:nvSpPr>
        <p:spPr>
          <a:xfrm>
            <a:off x="960953" y="2394942"/>
            <a:ext cx="572095" cy="572095"/>
          </a:xfrm>
          <a:prstGeom prst="roundRect">
            <a:avLst>
              <a:gd name="adj" fmla="val 15981761"/>
            </a:avLst>
          </a:prstGeom>
          <a:solidFill>
            <a:srgbClr val="B88E23"/>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8235" y="2552224"/>
            <a:ext cx="257413" cy="257413"/>
          </a:xfrm>
          <a:prstGeom prst="rect">
            <a:avLst/>
          </a:prstGeom>
        </p:spPr>
      </p:pic>
      <p:sp>
        <p:nvSpPr>
          <p:cNvPr id="7" name="Text 4"/>
          <p:cNvSpPr/>
          <p:nvPr/>
        </p:nvSpPr>
        <p:spPr>
          <a:xfrm>
            <a:off x="960953" y="3150275"/>
            <a:ext cx="3536752" cy="297894"/>
          </a:xfrm>
          <a:prstGeom prst="rect">
            <a:avLst/>
          </a:prstGeom>
          <a:noFill/>
          <a:ln/>
        </p:spPr>
        <p:txBody>
          <a:bodyPr wrap="none" lIns="0" tIns="0" rIns="0" bIns="0" rtlCol="0" anchor="t"/>
          <a:lstStyle/>
          <a:p>
            <a:pPr marL="0" indent="0" algn="l">
              <a:lnSpc>
                <a:spcPts val="2300"/>
              </a:lnSpc>
              <a:buNone/>
            </a:pPr>
            <a:r>
              <a:rPr lang="en-US" sz="1850" dirty="0">
                <a:solidFill>
                  <a:srgbClr val="454240"/>
                </a:solidFill>
                <a:latin typeface="Libre Baskerville" pitchFamily="34" charset="0"/>
                <a:ea typeface="Libre Baskerville" pitchFamily="34" charset="-122"/>
                <a:cs typeface="Libre Baskerville" pitchFamily="34" charset="-120"/>
              </a:rPr>
              <a:t>Large Number of Candidates</a:t>
            </a:r>
            <a:endParaRPr lang="en-US" sz="1850" dirty="0"/>
          </a:p>
        </p:txBody>
      </p:sp>
      <p:sp>
        <p:nvSpPr>
          <p:cNvPr id="8" name="Text 5"/>
          <p:cNvSpPr/>
          <p:nvPr/>
        </p:nvSpPr>
        <p:spPr>
          <a:xfrm>
            <a:off x="960953" y="3558064"/>
            <a:ext cx="6064329" cy="598408"/>
          </a:xfrm>
          <a:prstGeom prst="rect">
            <a:avLst/>
          </a:prstGeom>
          <a:noFill/>
          <a:ln/>
        </p:spPr>
        <p:txBody>
          <a:bodyPr wrap="square" lIns="0" tIns="0" rIns="0" bIns="0" rtlCol="0" anchor="t"/>
          <a:lstStyle/>
          <a:p>
            <a:pPr marL="0" indent="0" algn="l">
              <a:lnSpc>
                <a:spcPts val="2350"/>
              </a:lnSpc>
              <a:buNone/>
            </a:pPr>
            <a:r>
              <a:rPr lang="en-US" sz="1500" dirty="0">
                <a:solidFill>
                  <a:srgbClr val="454240"/>
                </a:solidFill>
                <a:latin typeface="DM Sans" pitchFamily="34" charset="0"/>
                <a:ea typeface="DM Sans" pitchFamily="34" charset="-122"/>
                <a:cs typeface="DM Sans" pitchFamily="34" charset="-120"/>
              </a:rPr>
              <a:t>Generating a vast number of candidate itemsets, especially for long patterns, can be computationally intensive and memory-consuming.</a:t>
            </a:r>
            <a:endParaRPr lang="en-US" sz="1500" dirty="0"/>
          </a:p>
        </p:txBody>
      </p:sp>
      <p:sp>
        <p:nvSpPr>
          <p:cNvPr id="9" name="Shape 6"/>
          <p:cNvSpPr/>
          <p:nvPr/>
        </p:nvSpPr>
        <p:spPr>
          <a:xfrm>
            <a:off x="7406759" y="2196703"/>
            <a:ext cx="6460927" cy="2158008"/>
          </a:xfrm>
          <a:prstGeom prst="roundRect">
            <a:avLst>
              <a:gd name="adj" fmla="val 3712"/>
            </a:avLst>
          </a:prstGeom>
          <a:solidFill>
            <a:srgbClr val="F7EDD4"/>
          </a:solidFill>
          <a:ln w="7620">
            <a:solidFill>
              <a:srgbClr val="DDD3BA"/>
            </a:solidFill>
            <a:prstDash val="solid"/>
          </a:ln>
        </p:spPr>
      </p:sp>
      <p:sp>
        <p:nvSpPr>
          <p:cNvPr id="10" name="Shape 7"/>
          <p:cNvSpPr/>
          <p:nvPr/>
        </p:nvSpPr>
        <p:spPr>
          <a:xfrm>
            <a:off x="7604998" y="2394942"/>
            <a:ext cx="572095" cy="572095"/>
          </a:xfrm>
          <a:prstGeom prst="roundRect">
            <a:avLst>
              <a:gd name="adj" fmla="val 15981761"/>
            </a:avLst>
          </a:prstGeom>
          <a:solidFill>
            <a:srgbClr val="B88E23"/>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62280" y="2552224"/>
            <a:ext cx="257413" cy="257413"/>
          </a:xfrm>
          <a:prstGeom prst="rect">
            <a:avLst/>
          </a:prstGeom>
        </p:spPr>
      </p:pic>
      <p:sp>
        <p:nvSpPr>
          <p:cNvPr id="12" name="Text 8"/>
          <p:cNvSpPr/>
          <p:nvPr/>
        </p:nvSpPr>
        <p:spPr>
          <a:xfrm>
            <a:off x="7604998" y="3150275"/>
            <a:ext cx="2840355" cy="297894"/>
          </a:xfrm>
          <a:prstGeom prst="rect">
            <a:avLst/>
          </a:prstGeom>
          <a:noFill/>
          <a:ln/>
        </p:spPr>
        <p:txBody>
          <a:bodyPr wrap="none" lIns="0" tIns="0" rIns="0" bIns="0" rtlCol="0" anchor="t"/>
          <a:lstStyle/>
          <a:p>
            <a:pPr marL="0" indent="0" algn="l">
              <a:lnSpc>
                <a:spcPts val="2300"/>
              </a:lnSpc>
              <a:buNone/>
            </a:pPr>
            <a:r>
              <a:rPr lang="en-US" sz="1850" dirty="0">
                <a:solidFill>
                  <a:srgbClr val="454240"/>
                </a:solidFill>
                <a:latin typeface="Libre Baskerville" pitchFamily="34" charset="0"/>
                <a:ea typeface="Libre Baskerville" pitchFamily="34" charset="-122"/>
                <a:cs typeface="Libre Baskerville" pitchFamily="34" charset="-120"/>
              </a:rPr>
              <a:t>High Time Complexity</a:t>
            </a:r>
            <a:endParaRPr lang="en-US" sz="1850" dirty="0"/>
          </a:p>
        </p:txBody>
      </p:sp>
      <p:sp>
        <p:nvSpPr>
          <p:cNvPr id="13" name="Text 9"/>
          <p:cNvSpPr/>
          <p:nvPr/>
        </p:nvSpPr>
        <p:spPr>
          <a:xfrm>
            <a:off x="7604998" y="3558064"/>
            <a:ext cx="6064448" cy="598408"/>
          </a:xfrm>
          <a:prstGeom prst="rect">
            <a:avLst/>
          </a:prstGeom>
          <a:noFill/>
          <a:ln/>
        </p:spPr>
        <p:txBody>
          <a:bodyPr wrap="square" lIns="0" tIns="0" rIns="0" bIns="0" rtlCol="0" anchor="t"/>
          <a:lstStyle/>
          <a:p>
            <a:pPr marL="0" indent="0" algn="l">
              <a:lnSpc>
                <a:spcPts val="2350"/>
              </a:lnSpc>
              <a:buNone/>
            </a:pPr>
            <a:r>
              <a:rPr lang="en-US" sz="1500" dirty="0">
                <a:solidFill>
                  <a:srgbClr val="454240"/>
                </a:solidFill>
                <a:latin typeface="DM Sans" pitchFamily="34" charset="0"/>
                <a:ea typeface="DM Sans" pitchFamily="34" charset="-122"/>
                <a:cs typeface="DM Sans" pitchFamily="34" charset="-120"/>
              </a:rPr>
              <a:t>The process of generating and testing candidate itemsets often leads to a high time complexity, making it slow for massive datasets.</a:t>
            </a:r>
            <a:endParaRPr lang="en-US" sz="1500" dirty="0"/>
          </a:p>
        </p:txBody>
      </p:sp>
      <p:sp>
        <p:nvSpPr>
          <p:cNvPr id="14" name="Shape 10"/>
          <p:cNvSpPr/>
          <p:nvPr/>
        </p:nvSpPr>
        <p:spPr>
          <a:xfrm>
            <a:off x="762714" y="4537948"/>
            <a:ext cx="6460808" cy="2457212"/>
          </a:xfrm>
          <a:prstGeom prst="roundRect">
            <a:avLst>
              <a:gd name="adj" fmla="val 3260"/>
            </a:avLst>
          </a:prstGeom>
          <a:solidFill>
            <a:srgbClr val="F7EDD4"/>
          </a:solidFill>
          <a:ln w="7620">
            <a:solidFill>
              <a:srgbClr val="DDD3BA"/>
            </a:solidFill>
            <a:prstDash val="solid"/>
          </a:ln>
        </p:spPr>
      </p:sp>
      <p:sp>
        <p:nvSpPr>
          <p:cNvPr id="15" name="Shape 11"/>
          <p:cNvSpPr/>
          <p:nvPr/>
        </p:nvSpPr>
        <p:spPr>
          <a:xfrm>
            <a:off x="960953" y="4736187"/>
            <a:ext cx="572095" cy="572095"/>
          </a:xfrm>
          <a:prstGeom prst="roundRect">
            <a:avLst>
              <a:gd name="adj" fmla="val 15981761"/>
            </a:avLst>
          </a:prstGeom>
          <a:solidFill>
            <a:srgbClr val="B88E23"/>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8235" y="4893469"/>
            <a:ext cx="257413" cy="257413"/>
          </a:xfrm>
          <a:prstGeom prst="rect">
            <a:avLst/>
          </a:prstGeom>
        </p:spPr>
      </p:pic>
      <p:sp>
        <p:nvSpPr>
          <p:cNvPr id="17" name="Text 12"/>
          <p:cNvSpPr/>
          <p:nvPr/>
        </p:nvSpPr>
        <p:spPr>
          <a:xfrm>
            <a:off x="960953" y="5491520"/>
            <a:ext cx="2956917" cy="297894"/>
          </a:xfrm>
          <a:prstGeom prst="rect">
            <a:avLst/>
          </a:prstGeom>
          <a:noFill/>
          <a:ln/>
        </p:spPr>
        <p:txBody>
          <a:bodyPr wrap="none" lIns="0" tIns="0" rIns="0" bIns="0" rtlCol="0" anchor="t"/>
          <a:lstStyle/>
          <a:p>
            <a:pPr marL="0" indent="0" algn="l">
              <a:lnSpc>
                <a:spcPts val="2300"/>
              </a:lnSpc>
              <a:buNone/>
            </a:pPr>
            <a:r>
              <a:rPr lang="en-US" sz="1850" dirty="0">
                <a:solidFill>
                  <a:srgbClr val="454240"/>
                </a:solidFill>
                <a:latin typeface="Libre Baskerville" pitchFamily="34" charset="0"/>
                <a:ea typeface="Libre Baskerville" pitchFamily="34" charset="-122"/>
                <a:cs typeface="Libre Baskerville" pitchFamily="34" charset="-120"/>
              </a:rPr>
              <a:t>Multiple Database Scans</a:t>
            </a:r>
            <a:endParaRPr lang="en-US" sz="1850" dirty="0"/>
          </a:p>
        </p:txBody>
      </p:sp>
      <p:sp>
        <p:nvSpPr>
          <p:cNvPr id="18" name="Text 13"/>
          <p:cNvSpPr/>
          <p:nvPr/>
        </p:nvSpPr>
        <p:spPr>
          <a:xfrm>
            <a:off x="960953" y="5899309"/>
            <a:ext cx="6064329" cy="897612"/>
          </a:xfrm>
          <a:prstGeom prst="rect">
            <a:avLst/>
          </a:prstGeom>
          <a:noFill/>
          <a:ln/>
        </p:spPr>
        <p:txBody>
          <a:bodyPr wrap="square" lIns="0" tIns="0" rIns="0" bIns="0" rtlCol="0" anchor="t"/>
          <a:lstStyle/>
          <a:p>
            <a:pPr marL="0" indent="0" algn="l">
              <a:lnSpc>
                <a:spcPts val="2350"/>
              </a:lnSpc>
              <a:buNone/>
            </a:pPr>
            <a:r>
              <a:rPr lang="en-US" sz="1500" dirty="0">
                <a:solidFill>
                  <a:srgbClr val="454240"/>
                </a:solidFill>
                <a:latin typeface="DM Sans" pitchFamily="34" charset="0"/>
                <a:ea typeface="DM Sans" pitchFamily="34" charset="-122"/>
                <a:cs typeface="DM Sans" pitchFamily="34" charset="-120"/>
              </a:rPr>
              <a:t>Apriori requires scanning the entire database multiple times (once for each iteration of candidate generation), which is a significant bottleneck for large databases stored on disk.</a:t>
            </a:r>
            <a:endParaRPr lang="en-US" sz="1500" dirty="0"/>
          </a:p>
        </p:txBody>
      </p:sp>
      <p:sp>
        <p:nvSpPr>
          <p:cNvPr id="19" name="Shape 14"/>
          <p:cNvSpPr/>
          <p:nvPr/>
        </p:nvSpPr>
        <p:spPr>
          <a:xfrm>
            <a:off x="7406759" y="4537948"/>
            <a:ext cx="6460927" cy="2457212"/>
          </a:xfrm>
          <a:prstGeom prst="roundRect">
            <a:avLst>
              <a:gd name="adj" fmla="val 3260"/>
            </a:avLst>
          </a:prstGeom>
          <a:solidFill>
            <a:srgbClr val="F7EDD4"/>
          </a:solidFill>
          <a:ln w="7620">
            <a:solidFill>
              <a:srgbClr val="DDD3BA"/>
            </a:solidFill>
            <a:prstDash val="solid"/>
          </a:ln>
        </p:spPr>
      </p:sp>
      <p:sp>
        <p:nvSpPr>
          <p:cNvPr id="20" name="Shape 15"/>
          <p:cNvSpPr/>
          <p:nvPr/>
        </p:nvSpPr>
        <p:spPr>
          <a:xfrm>
            <a:off x="7604998" y="4736187"/>
            <a:ext cx="572095" cy="572095"/>
          </a:xfrm>
          <a:prstGeom prst="roundRect">
            <a:avLst>
              <a:gd name="adj" fmla="val 15981761"/>
            </a:avLst>
          </a:prstGeom>
          <a:solidFill>
            <a:srgbClr val="B88E23"/>
          </a:solidFill>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62280" y="4893469"/>
            <a:ext cx="257413" cy="257413"/>
          </a:xfrm>
          <a:prstGeom prst="rect">
            <a:avLst/>
          </a:prstGeom>
        </p:spPr>
      </p:pic>
      <p:sp>
        <p:nvSpPr>
          <p:cNvPr id="22" name="Text 16"/>
          <p:cNvSpPr/>
          <p:nvPr/>
        </p:nvSpPr>
        <p:spPr>
          <a:xfrm>
            <a:off x="7604998" y="5491520"/>
            <a:ext cx="2810351" cy="297894"/>
          </a:xfrm>
          <a:prstGeom prst="rect">
            <a:avLst/>
          </a:prstGeom>
          <a:noFill/>
          <a:ln/>
        </p:spPr>
        <p:txBody>
          <a:bodyPr wrap="none" lIns="0" tIns="0" rIns="0" bIns="0" rtlCol="0" anchor="t"/>
          <a:lstStyle/>
          <a:p>
            <a:pPr marL="0" indent="0" algn="l">
              <a:lnSpc>
                <a:spcPts val="2300"/>
              </a:lnSpc>
              <a:buNone/>
            </a:pPr>
            <a:r>
              <a:rPr lang="en-US" sz="1850" dirty="0">
                <a:solidFill>
                  <a:srgbClr val="454240"/>
                </a:solidFill>
                <a:latin typeface="Libre Baskerville" pitchFamily="34" charset="0"/>
                <a:ea typeface="Libre Baskerville" pitchFamily="34" charset="-122"/>
                <a:cs typeface="Libre Baskerville" pitchFamily="34" charset="-120"/>
              </a:rPr>
              <a:t>Inefficient for Big Data</a:t>
            </a:r>
            <a:endParaRPr lang="en-US" sz="1850" dirty="0"/>
          </a:p>
        </p:txBody>
      </p:sp>
      <p:sp>
        <p:nvSpPr>
          <p:cNvPr id="23" name="Text 17"/>
          <p:cNvSpPr/>
          <p:nvPr/>
        </p:nvSpPr>
        <p:spPr>
          <a:xfrm>
            <a:off x="7604998" y="5899309"/>
            <a:ext cx="6064448" cy="897612"/>
          </a:xfrm>
          <a:prstGeom prst="rect">
            <a:avLst/>
          </a:prstGeom>
          <a:noFill/>
          <a:ln/>
        </p:spPr>
        <p:txBody>
          <a:bodyPr wrap="square" lIns="0" tIns="0" rIns="0" bIns="0" rtlCol="0" anchor="t"/>
          <a:lstStyle/>
          <a:p>
            <a:pPr marL="0" indent="0" algn="l">
              <a:lnSpc>
                <a:spcPts val="2350"/>
              </a:lnSpc>
              <a:buNone/>
            </a:pPr>
            <a:r>
              <a:rPr lang="en-US" sz="1500" dirty="0">
                <a:solidFill>
                  <a:srgbClr val="454240"/>
                </a:solidFill>
                <a:latin typeface="DM Sans" pitchFamily="34" charset="0"/>
                <a:ea typeface="DM Sans" pitchFamily="34" charset="-122"/>
                <a:cs typeface="DM Sans" pitchFamily="34" charset="-120"/>
              </a:rPr>
              <a:t>The combination of these limitations makes Apriori less efficient and practical for modern big data applications where speed and scalability are crucial.</a:t>
            </a:r>
            <a:endParaRPr lang="en-US" sz="1500" dirty="0"/>
          </a:p>
        </p:txBody>
      </p:sp>
      <p:sp>
        <p:nvSpPr>
          <p:cNvPr id="24" name="Text 18"/>
          <p:cNvSpPr/>
          <p:nvPr/>
        </p:nvSpPr>
        <p:spPr>
          <a:xfrm>
            <a:off x="762714" y="7201257"/>
            <a:ext cx="13104971" cy="299204"/>
          </a:xfrm>
          <a:prstGeom prst="rect">
            <a:avLst/>
          </a:prstGeom>
          <a:noFill/>
          <a:ln/>
        </p:spPr>
        <p:txBody>
          <a:bodyPr wrap="none" lIns="0" tIns="0" rIns="0" bIns="0" rtlCol="0" anchor="t"/>
          <a:lstStyle/>
          <a:p>
            <a:pPr marL="0" indent="0" algn="l">
              <a:lnSpc>
                <a:spcPts val="2350"/>
              </a:lnSpc>
              <a:buNone/>
            </a:pPr>
            <a:r>
              <a:rPr lang="en-US" sz="1500" dirty="0">
                <a:solidFill>
                  <a:srgbClr val="454240"/>
                </a:solidFill>
                <a:latin typeface="DM Sans" pitchFamily="34" charset="0"/>
                <a:ea typeface="DM Sans" pitchFamily="34" charset="-122"/>
                <a:cs typeface="DM Sans" pitchFamily="34" charset="-120"/>
              </a:rPr>
              <a:t>These drawbacks paved the way for the development of more efficient algorithms like FP-Growth.</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35343"/>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5C4E3D"/>
                </a:solidFill>
                <a:latin typeface="Libre Baskerville" pitchFamily="34" charset="0"/>
                <a:ea typeface="Libre Baskerville" pitchFamily="34" charset="-122"/>
                <a:cs typeface="Libre Baskerville" pitchFamily="34" charset="-120"/>
              </a:rPr>
              <a:t>Mining Frequent Itemsets Without Candidate Generation (FP-Growth)</a:t>
            </a:r>
            <a:endParaRPr lang="en-US" sz="3900" dirty="0"/>
          </a:p>
        </p:txBody>
      </p:sp>
      <p:sp>
        <p:nvSpPr>
          <p:cNvPr id="3" name="Text 1"/>
          <p:cNvSpPr/>
          <p:nvPr/>
        </p:nvSpPr>
        <p:spPr>
          <a:xfrm>
            <a:off x="793790" y="2551748"/>
            <a:ext cx="8308300" cy="95261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The need for more efficient algorithms to overcome Apriori's limitations led to the development of FP-Growth. This algorithm aims to avoid the costly candidate generation step by employing a "divide and conquer" strategy.</a:t>
            </a:r>
            <a:endParaRPr lang="en-US" sz="1550" dirty="0"/>
          </a:p>
        </p:txBody>
      </p:sp>
      <p:sp>
        <p:nvSpPr>
          <p:cNvPr id="4" name="Text 2"/>
          <p:cNvSpPr/>
          <p:nvPr/>
        </p:nvSpPr>
        <p:spPr>
          <a:xfrm>
            <a:off x="793790" y="3682960"/>
            <a:ext cx="8308300" cy="127015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FP-Growth constructs a highly compact data structure called an </a:t>
            </a:r>
            <a:r>
              <a:rPr lang="en-US" sz="1550" b="1" dirty="0">
                <a:solidFill>
                  <a:srgbClr val="454240"/>
                </a:solidFill>
                <a:latin typeface="DM Sans" pitchFamily="34" charset="0"/>
                <a:ea typeface="DM Sans" pitchFamily="34" charset="-122"/>
                <a:cs typeface="DM Sans" pitchFamily="34" charset="-120"/>
              </a:rPr>
              <a:t>FP-Tree (Frequent Pattern Tree)</a:t>
            </a:r>
            <a:r>
              <a:rPr lang="en-US" sz="1550" dirty="0">
                <a:solidFill>
                  <a:srgbClr val="454240"/>
                </a:solidFill>
                <a:latin typeface="DM Sans" pitchFamily="34" charset="0"/>
                <a:ea typeface="DM Sans" pitchFamily="34" charset="-122"/>
                <a:cs typeface="DM Sans" pitchFamily="34" charset="-120"/>
              </a:rPr>
              <a:t>. This tree stores all necessary information about frequent itemsets in a compact manner. Each node in the tree represents an item, and its count indicates how many transactions contain that item up to that point in the path.</a:t>
            </a:r>
            <a:endParaRPr lang="en-US" sz="1550" dirty="0"/>
          </a:p>
        </p:txBody>
      </p:sp>
      <p:sp>
        <p:nvSpPr>
          <p:cNvPr id="5" name="Text 3"/>
          <p:cNvSpPr/>
          <p:nvPr/>
        </p:nvSpPr>
        <p:spPr>
          <a:xfrm>
            <a:off x="793790" y="5131713"/>
            <a:ext cx="8308300" cy="95261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The 'Pattern Growth' approach then extracts frequent itemsets directly from the FP-Tree without any candidate generation. It recursively mines conditional FP-Trees, efficiently discovering all frequent patterns.</a:t>
            </a:r>
            <a:endParaRPr lang="en-US" sz="1550" dirty="0"/>
          </a:p>
        </p:txBody>
      </p:sp>
      <p:sp>
        <p:nvSpPr>
          <p:cNvPr id="6" name="Text 4"/>
          <p:cNvSpPr/>
          <p:nvPr/>
        </p:nvSpPr>
        <p:spPr>
          <a:xfrm>
            <a:off x="793790" y="6262926"/>
            <a:ext cx="8308300" cy="95261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The primary advantage of FP-Growth over Apriori is its efficiency, especially for dense datasets, as it avoids repeated database scans and the combinatorial explosion of candidate itemsets.</a:t>
            </a:r>
            <a:endParaRPr lang="en-US" sz="1550" dirty="0"/>
          </a:p>
        </p:txBody>
      </p:sp>
      <p:pic>
        <p:nvPicPr>
          <p:cNvPr id="7" name="Image 0" descr="preencoded.png"/>
          <p:cNvPicPr>
            <a:picLocks noChangeAspect="1"/>
          </p:cNvPicPr>
          <p:nvPr/>
        </p:nvPicPr>
        <p:blipFill>
          <a:blip r:embed="rId3"/>
          <a:stretch>
            <a:fillRect/>
          </a:stretch>
        </p:blipFill>
        <p:spPr>
          <a:xfrm>
            <a:off x="9593818" y="3013234"/>
            <a:ext cx="4250293" cy="374070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85944"/>
            <a:ext cx="11520845" cy="620078"/>
          </a:xfrm>
          <a:prstGeom prst="rect">
            <a:avLst/>
          </a:prstGeom>
          <a:noFill/>
          <a:ln/>
        </p:spPr>
        <p:txBody>
          <a:bodyPr wrap="none" lIns="0" tIns="0" rIns="0" bIns="0" rtlCol="0" anchor="t"/>
          <a:lstStyle/>
          <a:p>
            <a:pPr marL="0" indent="0" algn="l">
              <a:lnSpc>
                <a:spcPts val="4850"/>
              </a:lnSpc>
              <a:buNone/>
            </a:pPr>
            <a:r>
              <a:rPr lang="en-US" sz="3900" dirty="0">
                <a:solidFill>
                  <a:srgbClr val="5C4E3D"/>
                </a:solidFill>
                <a:latin typeface="Libre Baskerville" pitchFamily="34" charset="0"/>
                <a:ea typeface="Libre Baskerville" pitchFamily="34" charset="-122"/>
                <a:cs typeface="Libre Baskerville" pitchFamily="34" charset="-120"/>
              </a:rPr>
              <a:t>Mining Frequent Itemsets Using Vertical Data</a:t>
            </a:r>
            <a:endParaRPr lang="en-US" sz="3900" dirty="0"/>
          </a:p>
        </p:txBody>
      </p:sp>
      <p:pic>
        <p:nvPicPr>
          <p:cNvPr id="3" name="Image 0" descr="preencoded.png"/>
          <p:cNvPicPr>
            <a:picLocks noChangeAspect="1"/>
          </p:cNvPicPr>
          <p:nvPr/>
        </p:nvPicPr>
        <p:blipFill>
          <a:blip r:embed="rId3"/>
          <a:stretch>
            <a:fillRect/>
          </a:stretch>
        </p:blipFill>
        <p:spPr>
          <a:xfrm>
            <a:off x="793790" y="2448520"/>
            <a:ext cx="4250293" cy="4250293"/>
          </a:xfrm>
          <a:prstGeom prst="rect">
            <a:avLst/>
          </a:prstGeom>
        </p:spPr>
      </p:pic>
      <p:sp>
        <p:nvSpPr>
          <p:cNvPr id="4" name="Text 1"/>
          <p:cNvSpPr/>
          <p:nvPr/>
        </p:nvSpPr>
        <p:spPr>
          <a:xfrm>
            <a:off x="5535811" y="1982272"/>
            <a:ext cx="8308300" cy="95261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Traditional association rule mining often uses a horizontal data format (transaction ID → list of items). However, vertical data mining offers an alternative, often more efficient, approach.</a:t>
            </a:r>
            <a:endParaRPr lang="en-US" sz="1550" dirty="0"/>
          </a:p>
        </p:txBody>
      </p:sp>
      <p:sp>
        <p:nvSpPr>
          <p:cNvPr id="5" name="Text 2"/>
          <p:cNvSpPr/>
          <p:nvPr/>
        </p:nvSpPr>
        <p:spPr>
          <a:xfrm>
            <a:off x="5535811" y="3113484"/>
            <a:ext cx="8308300" cy="65031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In a </a:t>
            </a:r>
            <a:r>
              <a:rPr lang="en-US" sz="1550" b="1" dirty="0">
                <a:solidFill>
                  <a:srgbClr val="454240"/>
                </a:solidFill>
                <a:latin typeface="DM Sans" pitchFamily="34" charset="0"/>
                <a:ea typeface="DM Sans" pitchFamily="34" charset="-122"/>
                <a:cs typeface="DM Sans" pitchFamily="34" charset="-120"/>
              </a:rPr>
              <a:t>vertical data format</a:t>
            </a:r>
            <a:r>
              <a:rPr lang="en-US" sz="1550" dirty="0">
                <a:solidFill>
                  <a:srgbClr val="454240"/>
                </a:solidFill>
                <a:latin typeface="DM Sans" pitchFamily="34" charset="0"/>
                <a:ea typeface="DM Sans" pitchFamily="34" charset="-122"/>
                <a:cs typeface="DM Sans" pitchFamily="34" charset="-120"/>
              </a:rPr>
              <a:t>, data is represented as </a:t>
            </a:r>
            <a:r>
              <a:rPr lang="en-US" sz="1550" dirty="0">
                <a:solidFill>
                  <a:srgbClr val="454240"/>
                </a:solidFill>
                <a:highlight>
                  <a:srgbClr val="F2F0ED"/>
                </a:highlight>
                <a:latin typeface="Consolas" pitchFamily="34" charset="0"/>
                <a:ea typeface="Consolas" pitchFamily="34" charset="-122"/>
                <a:cs typeface="Consolas" pitchFamily="34" charset="-120"/>
              </a:rPr>
              <a:t>Item → TID List</a:t>
            </a:r>
            <a:r>
              <a:rPr lang="en-US" sz="1550" dirty="0">
                <a:solidFill>
                  <a:srgbClr val="454240"/>
                </a:solidFill>
                <a:latin typeface="DM Sans" pitchFamily="34" charset="0"/>
                <a:ea typeface="DM Sans" pitchFamily="34" charset="-122"/>
                <a:cs typeface="DM Sans" pitchFamily="34" charset="-120"/>
              </a:rPr>
              <a:t>, where a TID list contains the Transaction IDs in which the item appears. For example, </a:t>
            </a:r>
            <a:r>
              <a:rPr lang="en-US" sz="1550" dirty="0">
                <a:solidFill>
                  <a:srgbClr val="454240"/>
                </a:solidFill>
                <a:highlight>
                  <a:srgbClr val="F2F0ED"/>
                </a:highlight>
                <a:latin typeface="Consolas" pitchFamily="34" charset="0"/>
                <a:ea typeface="Consolas" pitchFamily="34" charset="-122"/>
                <a:cs typeface="Consolas" pitchFamily="34" charset="-120"/>
              </a:rPr>
              <a:t>Milk: {T100, T200, T300}</a:t>
            </a:r>
            <a:r>
              <a:rPr lang="en-US" sz="1550" dirty="0">
                <a:solidFill>
                  <a:srgbClr val="454240"/>
                </a:solidFill>
                <a:latin typeface="DM Sans" pitchFamily="34" charset="0"/>
                <a:ea typeface="DM Sans" pitchFamily="34" charset="-122"/>
                <a:cs typeface="DM Sans" pitchFamily="34" charset="-120"/>
              </a:rPr>
              <a:t>.</a:t>
            </a:r>
            <a:endParaRPr lang="en-US" sz="1550" dirty="0"/>
          </a:p>
        </p:txBody>
      </p:sp>
      <p:sp>
        <p:nvSpPr>
          <p:cNvPr id="6" name="Text 3"/>
          <p:cNvSpPr/>
          <p:nvPr/>
        </p:nvSpPr>
        <p:spPr>
          <a:xfrm>
            <a:off x="5535811" y="3942398"/>
            <a:ext cx="8308300" cy="95261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The </a:t>
            </a:r>
            <a:r>
              <a:rPr lang="en-US" sz="1550" b="1" dirty="0">
                <a:solidFill>
                  <a:srgbClr val="454240"/>
                </a:solidFill>
                <a:latin typeface="DM Sans" pitchFamily="34" charset="0"/>
                <a:ea typeface="DM Sans" pitchFamily="34" charset="-122"/>
                <a:cs typeface="DM Sans" pitchFamily="34" charset="-120"/>
              </a:rPr>
              <a:t>ECLAT algorithm</a:t>
            </a:r>
            <a:r>
              <a:rPr lang="en-US" sz="1550" dirty="0">
                <a:solidFill>
                  <a:srgbClr val="454240"/>
                </a:solidFill>
                <a:latin typeface="DM Sans" pitchFamily="34" charset="0"/>
                <a:ea typeface="DM Sans" pitchFamily="34" charset="-122"/>
                <a:cs typeface="DM Sans" pitchFamily="34" charset="-120"/>
              </a:rPr>
              <a:t> (Equivalence Class Transformation) is a popular technique for mining frequent itemsets from vertical data. It uses intersection operations on TID lists to find support for itemsets.</a:t>
            </a:r>
            <a:endParaRPr lang="en-US" sz="1550" dirty="0"/>
          </a:p>
        </p:txBody>
      </p:sp>
      <p:sp>
        <p:nvSpPr>
          <p:cNvPr id="7" name="Text 4"/>
          <p:cNvSpPr/>
          <p:nvPr/>
        </p:nvSpPr>
        <p:spPr>
          <a:xfrm>
            <a:off x="5535811" y="5073610"/>
            <a:ext cx="8308300" cy="127777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To find the support of an itemset like </a:t>
            </a:r>
            <a:r>
              <a:rPr lang="en-US" sz="1550" dirty="0">
                <a:solidFill>
                  <a:srgbClr val="454240"/>
                </a:solidFill>
                <a:highlight>
                  <a:srgbClr val="F2F0ED"/>
                </a:highlight>
                <a:latin typeface="Consolas" pitchFamily="34" charset="0"/>
                <a:ea typeface="Consolas" pitchFamily="34" charset="-122"/>
                <a:cs typeface="Consolas" pitchFamily="34" charset="-120"/>
              </a:rPr>
              <a:t>{Milk, Bread}</a:t>
            </a:r>
            <a:r>
              <a:rPr lang="en-US" sz="1550" dirty="0">
                <a:solidFill>
                  <a:srgbClr val="454240"/>
                </a:solidFill>
                <a:latin typeface="DM Sans" pitchFamily="34" charset="0"/>
                <a:ea typeface="DM Sans" pitchFamily="34" charset="-122"/>
                <a:cs typeface="DM Sans" pitchFamily="34" charset="-120"/>
              </a:rPr>
              <a:t>, ECLAT simply intersects the TID lists of 'Milk' and 'Bread'. The length of the resulting intersected list is the support count. This approach eliminates the need for generating candidate itemsets and scanning the database multiple times, similar to FP-Growth.</a:t>
            </a:r>
            <a:endParaRPr lang="en-US" sz="1550" dirty="0"/>
          </a:p>
        </p:txBody>
      </p:sp>
      <p:sp>
        <p:nvSpPr>
          <p:cNvPr id="8" name="Text 5"/>
          <p:cNvSpPr/>
          <p:nvPr/>
        </p:nvSpPr>
        <p:spPr>
          <a:xfrm>
            <a:off x="5535811" y="6529983"/>
            <a:ext cx="8308300" cy="63507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Benefits of vertical mining include faster support counting, especially for sparse datasets, and efficient storage, making it suitable for certain data structures and parallel processing.</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92994"/>
            <a:ext cx="9090779" cy="620078"/>
          </a:xfrm>
          <a:prstGeom prst="rect">
            <a:avLst/>
          </a:prstGeom>
          <a:noFill/>
          <a:ln/>
        </p:spPr>
        <p:txBody>
          <a:bodyPr wrap="none" lIns="0" tIns="0" rIns="0" bIns="0" rtlCol="0" anchor="t"/>
          <a:lstStyle/>
          <a:p>
            <a:pPr marL="0" indent="0" algn="l">
              <a:lnSpc>
                <a:spcPts val="4850"/>
              </a:lnSpc>
              <a:buNone/>
            </a:pPr>
            <a:r>
              <a:rPr lang="en-US" sz="3900" dirty="0">
                <a:solidFill>
                  <a:srgbClr val="5C4E3D"/>
                </a:solidFill>
                <a:latin typeface="Libre Baskerville" pitchFamily="34" charset="0"/>
                <a:ea typeface="Libre Baskerville" pitchFamily="34" charset="-122"/>
                <a:cs typeface="Libre Baskerville" pitchFamily="34" charset="-120"/>
              </a:rPr>
              <a:t>Multidimensional Association Rules</a:t>
            </a:r>
            <a:endParaRPr lang="en-US" sz="3900" dirty="0"/>
          </a:p>
        </p:txBody>
      </p:sp>
      <p:sp>
        <p:nvSpPr>
          <p:cNvPr id="3" name="Text 1"/>
          <p:cNvSpPr/>
          <p:nvPr/>
        </p:nvSpPr>
        <p:spPr>
          <a:xfrm>
            <a:off x="793790" y="210990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Beyond simple item co-occurrence, association rules can involve multiple dimensions or attributes of the data, leading to </a:t>
            </a:r>
            <a:r>
              <a:rPr lang="en-US" sz="1550" b="1" dirty="0">
                <a:solidFill>
                  <a:srgbClr val="454240"/>
                </a:solidFill>
                <a:latin typeface="DM Sans" pitchFamily="34" charset="0"/>
                <a:ea typeface="DM Sans" pitchFamily="34" charset="-122"/>
                <a:cs typeface="DM Sans" pitchFamily="34" charset="-120"/>
              </a:rPr>
              <a:t>multidimensional association rules</a:t>
            </a:r>
            <a:r>
              <a:rPr lang="en-US" sz="1550" dirty="0">
                <a:solidFill>
                  <a:srgbClr val="454240"/>
                </a:solidFill>
                <a:latin typeface="DM Sans" pitchFamily="34" charset="0"/>
                <a:ea typeface="DM Sans" pitchFamily="34" charset="-122"/>
                <a:cs typeface="DM Sans" pitchFamily="34" charset="-120"/>
              </a:rPr>
              <a:t>.</a:t>
            </a:r>
            <a:endParaRPr lang="en-US" sz="1550" dirty="0"/>
          </a:p>
        </p:txBody>
      </p:sp>
      <p:sp>
        <p:nvSpPr>
          <p:cNvPr id="4" name="Text 2"/>
          <p:cNvSpPr/>
          <p:nvPr/>
        </p:nvSpPr>
        <p:spPr>
          <a:xfrm>
            <a:off x="793790" y="2968228"/>
            <a:ext cx="13042821" cy="96023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These rules examine relationships between items across different dimensions, such as demographic attributes, product categories, or time. For example, a rule might be: </a:t>
            </a:r>
            <a:r>
              <a:rPr lang="en-US" sz="1550" dirty="0">
                <a:solidFill>
                  <a:srgbClr val="454240"/>
                </a:solidFill>
                <a:highlight>
                  <a:srgbClr val="F2F0ED"/>
                </a:highlight>
                <a:latin typeface="Consolas" pitchFamily="34" charset="0"/>
                <a:ea typeface="Consolas" pitchFamily="34" charset="-122"/>
                <a:cs typeface="Consolas" pitchFamily="34" charset="-120"/>
              </a:rPr>
              <a:t>(Age: 20-29, Income: High) → {Buys: Luxury Car}</a:t>
            </a:r>
            <a:r>
              <a:rPr lang="en-US" sz="1550" dirty="0">
                <a:solidFill>
                  <a:srgbClr val="454240"/>
                </a:solidFill>
                <a:latin typeface="DM Sans" pitchFamily="34" charset="0"/>
                <a:ea typeface="DM Sans" pitchFamily="34" charset="-122"/>
                <a:cs typeface="DM Sans" pitchFamily="34" charset="-120"/>
              </a:rPr>
              <a:t>. This rule combines customer attributes (Age, Income) with a purchase behaviour.</a:t>
            </a:r>
            <a:endParaRPr lang="en-US" sz="1550" dirty="0"/>
          </a:p>
        </p:txBody>
      </p:sp>
      <p:sp>
        <p:nvSpPr>
          <p:cNvPr id="5" name="Shape 3"/>
          <p:cNvSpPr/>
          <p:nvPr/>
        </p:nvSpPr>
        <p:spPr>
          <a:xfrm>
            <a:off x="793790" y="4151709"/>
            <a:ext cx="13042821" cy="1809036"/>
          </a:xfrm>
          <a:prstGeom prst="roundRect">
            <a:avLst>
              <a:gd name="adj" fmla="val 4608"/>
            </a:avLst>
          </a:prstGeom>
          <a:solidFill>
            <a:srgbClr val="F7EDD4"/>
          </a:solidFill>
          <a:ln w="7620">
            <a:solidFill>
              <a:srgbClr val="DDD3BA"/>
            </a:solidFill>
            <a:prstDash val="solid"/>
          </a:ln>
        </p:spPr>
      </p:sp>
      <p:sp>
        <p:nvSpPr>
          <p:cNvPr id="6" name="Shape 4"/>
          <p:cNvSpPr/>
          <p:nvPr/>
        </p:nvSpPr>
        <p:spPr>
          <a:xfrm>
            <a:off x="801410" y="4159329"/>
            <a:ext cx="6513790" cy="1793796"/>
          </a:xfrm>
          <a:prstGeom prst="roundRect">
            <a:avLst>
              <a:gd name="adj" fmla="val 4647"/>
            </a:avLst>
          </a:prstGeom>
          <a:solidFill>
            <a:srgbClr val="F7EDD4"/>
          </a:solidFill>
          <a:ln/>
        </p:spPr>
      </p:sp>
      <p:sp>
        <p:nvSpPr>
          <p:cNvPr id="7" name="Text 5"/>
          <p:cNvSpPr/>
          <p:nvPr/>
        </p:nvSpPr>
        <p:spPr>
          <a:xfrm>
            <a:off x="999768" y="4357688"/>
            <a:ext cx="3130868" cy="310158"/>
          </a:xfrm>
          <a:prstGeom prst="rect">
            <a:avLst/>
          </a:prstGeom>
          <a:noFill/>
          <a:ln/>
        </p:spPr>
        <p:txBody>
          <a:bodyPr wrap="none" lIns="0" tIns="0" rIns="0" bIns="0" rtlCol="0" anchor="t"/>
          <a:lstStyle/>
          <a:p>
            <a:pPr marL="0" indent="0" algn="l">
              <a:lnSpc>
                <a:spcPts val="2400"/>
              </a:lnSpc>
              <a:buNone/>
            </a:pPr>
            <a:r>
              <a:rPr lang="en-US" sz="1950" dirty="0">
                <a:solidFill>
                  <a:srgbClr val="454240"/>
                </a:solidFill>
                <a:latin typeface="Libre Baskerville" pitchFamily="34" charset="0"/>
                <a:ea typeface="Libre Baskerville" pitchFamily="34" charset="-122"/>
                <a:cs typeface="Libre Baskerville" pitchFamily="34" charset="-120"/>
              </a:rPr>
              <a:t>Inter-Dimensional Rules</a:t>
            </a:r>
            <a:endParaRPr lang="en-US" sz="1950" dirty="0"/>
          </a:p>
        </p:txBody>
      </p:sp>
      <p:sp>
        <p:nvSpPr>
          <p:cNvPr id="8" name="Text 6"/>
          <p:cNvSpPr/>
          <p:nvPr/>
        </p:nvSpPr>
        <p:spPr>
          <a:xfrm>
            <a:off x="999768" y="4786908"/>
            <a:ext cx="6117074" cy="65031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Involve attributes from different dimensions, e.g., </a:t>
            </a:r>
            <a:r>
              <a:rPr lang="en-US" sz="1550" dirty="0">
                <a:solidFill>
                  <a:srgbClr val="454240"/>
                </a:solidFill>
                <a:highlight>
                  <a:srgbClr val="F2F0ED"/>
                </a:highlight>
                <a:latin typeface="Consolas" pitchFamily="34" charset="0"/>
                <a:ea typeface="Consolas" pitchFamily="34" charset="-122"/>
                <a:cs typeface="Consolas" pitchFamily="34" charset="-120"/>
              </a:rPr>
              <a:t>Age AND Occupation → ProductBought</a:t>
            </a:r>
            <a:r>
              <a:rPr lang="en-US" sz="1550" dirty="0">
                <a:solidFill>
                  <a:srgbClr val="454240"/>
                </a:solidFill>
                <a:latin typeface="DM Sans" pitchFamily="34" charset="0"/>
                <a:ea typeface="DM Sans" pitchFamily="34" charset="-122"/>
                <a:cs typeface="DM Sans" pitchFamily="34" charset="-120"/>
              </a:rPr>
              <a:t>.</a:t>
            </a:r>
            <a:endParaRPr lang="en-US" sz="1550" dirty="0"/>
          </a:p>
        </p:txBody>
      </p:sp>
      <p:sp>
        <p:nvSpPr>
          <p:cNvPr id="9" name="Shape 7"/>
          <p:cNvSpPr/>
          <p:nvPr/>
        </p:nvSpPr>
        <p:spPr>
          <a:xfrm>
            <a:off x="7315200" y="4159329"/>
            <a:ext cx="6513790" cy="1793796"/>
          </a:xfrm>
          <a:prstGeom prst="rect">
            <a:avLst/>
          </a:prstGeom>
          <a:solidFill>
            <a:srgbClr val="F7EDD4"/>
          </a:solidFill>
          <a:ln/>
        </p:spPr>
      </p:sp>
      <p:sp>
        <p:nvSpPr>
          <p:cNvPr id="10" name="Shape 8"/>
          <p:cNvSpPr/>
          <p:nvPr/>
        </p:nvSpPr>
        <p:spPr>
          <a:xfrm>
            <a:off x="7315200" y="4159329"/>
            <a:ext cx="22860" cy="1793796"/>
          </a:xfrm>
          <a:prstGeom prst="roundRect">
            <a:avLst>
              <a:gd name="adj" fmla="val 364651"/>
            </a:avLst>
          </a:prstGeom>
          <a:solidFill>
            <a:srgbClr val="DDD3BA"/>
          </a:solidFill>
          <a:ln/>
        </p:spPr>
      </p:sp>
      <p:sp>
        <p:nvSpPr>
          <p:cNvPr id="11" name="Text 9"/>
          <p:cNvSpPr/>
          <p:nvPr/>
        </p:nvSpPr>
        <p:spPr>
          <a:xfrm>
            <a:off x="7513558" y="4357688"/>
            <a:ext cx="3424238" cy="310158"/>
          </a:xfrm>
          <a:prstGeom prst="rect">
            <a:avLst/>
          </a:prstGeom>
          <a:noFill/>
          <a:ln/>
        </p:spPr>
        <p:txBody>
          <a:bodyPr wrap="none" lIns="0" tIns="0" rIns="0" bIns="0" rtlCol="0" anchor="t"/>
          <a:lstStyle/>
          <a:p>
            <a:pPr marL="0" indent="0" algn="l">
              <a:lnSpc>
                <a:spcPts val="2400"/>
              </a:lnSpc>
              <a:buNone/>
            </a:pPr>
            <a:r>
              <a:rPr lang="en-US" sz="1950" dirty="0">
                <a:solidFill>
                  <a:srgbClr val="454240"/>
                </a:solidFill>
                <a:latin typeface="Libre Baskerville" pitchFamily="34" charset="0"/>
                <a:ea typeface="Libre Baskerville" pitchFamily="34" charset="-122"/>
                <a:cs typeface="Libre Baskerville" pitchFamily="34" charset="-120"/>
              </a:rPr>
              <a:t>Hybrid-Dimensional Rules</a:t>
            </a:r>
            <a:endParaRPr lang="en-US" sz="1950" dirty="0"/>
          </a:p>
        </p:txBody>
      </p:sp>
      <p:sp>
        <p:nvSpPr>
          <p:cNvPr id="12" name="Text 10"/>
          <p:cNvSpPr/>
          <p:nvPr/>
        </p:nvSpPr>
        <p:spPr>
          <a:xfrm>
            <a:off x="7513558" y="4786908"/>
            <a:ext cx="6117074" cy="96785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Combine both inter-dimensional and intra-dimensional predicates, e.g., </a:t>
            </a:r>
            <a:r>
              <a:rPr lang="en-US" sz="1550" dirty="0">
                <a:solidFill>
                  <a:srgbClr val="454240"/>
                </a:solidFill>
                <a:highlight>
                  <a:srgbClr val="F2F0ED"/>
                </a:highlight>
                <a:latin typeface="Consolas" pitchFamily="34" charset="0"/>
                <a:ea typeface="Consolas" pitchFamily="34" charset="-122"/>
                <a:cs typeface="Consolas" pitchFamily="34" charset="-120"/>
              </a:rPr>
              <a:t>Age AND Income AND ProductType → SpecificProduct</a:t>
            </a:r>
            <a:r>
              <a:rPr lang="en-US" sz="1550" dirty="0">
                <a:solidFill>
                  <a:srgbClr val="454240"/>
                </a:solidFill>
                <a:latin typeface="DM Sans" pitchFamily="34" charset="0"/>
                <a:ea typeface="DM Sans" pitchFamily="34" charset="-122"/>
                <a:cs typeface="DM Sans" pitchFamily="34" charset="-120"/>
              </a:rPr>
              <a:t>.</a:t>
            </a:r>
            <a:endParaRPr lang="en-US" sz="1550" dirty="0"/>
          </a:p>
        </p:txBody>
      </p:sp>
      <p:sp>
        <p:nvSpPr>
          <p:cNvPr id="13" name="Text 11"/>
          <p:cNvSpPr/>
          <p:nvPr/>
        </p:nvSpPr>
        <p:spPr>
          <a:xfrm>
            <a:off x="793790" y="6183987"/>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These rules offer deeper insights into customer behaviour, enabling targeted marketing campaigns, personalised recommendations, and more sophisticated business strategies. They move beyond transactional data to incorporate rich contextual information, providing a holistic view of associations.</a:t>
            </a:r>
            <a:endParaRPr lang="en-US" sz="155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13</TotalTime>
  <Words>1342</Words>
  <Application>Microsoft Office PowerPoint</Application>
  <PresentationFormat>Custom</PresentationFormat>
  <Paragraphs>72</Paragraphs>
  <Slides>8</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Garamond</vt:lpstr>
      <vt:lpstr>Consolas</vt:lpstr>
      <vt:lpstr>Libre Baskerville</vt:lpstr>
      <vt:lpstr>DM Sans</vt:lpstr>
      <vt:lpstr>Century Gothic</vt:lpstr>
      <vt:lpstr>Libre Baskerville Light</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Priyanshu Srivastava</cp:lastModifiedBy>
  <cp:revision>3</cp:revision>
  <dcterms:created xsi:type="dcterms:W3CDTF">2026-02-04T13:18:46Z</dcterms:created>
  <dcterms:modified xsi:type="dcterms:W3CDTF">2026-02-04T13:32:22Z</dcterms:modified>
</cp:coreProperties>
</file>